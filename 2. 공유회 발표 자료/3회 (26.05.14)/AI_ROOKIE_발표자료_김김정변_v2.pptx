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7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80" autoAdjust="0"/>
    <p:restoredTop sz="94610"/>
  </p:normalViewPr>
  <p:slideViewPr>
    <p:cSldViewPr snapToGrid="0" snapToObjects="1">
      <p:cViewPr varScale="1">
        <p:scale>
          <a:sx n="204" d="100"/>
          <a:sy n="204" d="100"/>
        </p:scale>
        <p:origin x="20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863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AI ROOKIE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VLA 기반 Mobile Manipulator를 활용한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실내 정리 &amp; 비서 시스템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3716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· Language · Action — 가정의 일상을 자동화하는 지능형 정리 로봇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김김정변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팀대표 변지민  ·  팀원 김기현, 김시우, 정지아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8188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세종대학교 AI로봇학과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48188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2026. 04. 30.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지금, 가정에 정리 로봇이 필요한가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반복되는 정리 노동, 누가 대신할 것인가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반려동물·영유아 가구 증가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장난감, 빨래, 간식 포장지 등 생활용품이 바닥에 수시로 흩어지는 환경이 일상화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맞벌이 가정의 누적 피로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후에도 매일 반복되는 정리 작업이 실질적인 부담으로 작용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가정용 로봇의 기능적 한계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로봇청소기는 단순 청소만 수행 — 물체를 집고, 의미를 파악하고, 분류·정리하는 작업은 불가능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  |  김김정변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pic>
        <p:nvPicPr>
          <p:cNvPr id="11" name="그림 10" descr="지저분한 거실 손상 지저분한에 대한 스톡 사진 및 기타 이미지 - 지저분한, 집, 지진 - iStock">
            <a:extLst>
              <a:ext uri="{FF2B5EF4-FFF2-40B4-BE49-F238E27FC236}">
                <a16:creationId xmlns:a16="http://schemas.microsoft.com/office/drawing/2014/main" id="{2552C4FF-B4E6-8F5B-FF63-658370031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9" r="11747"/>
          <a:stretch>
            <a:fillRect/>
          </a:stretch>
        </p:blipFill>
        <p:spPr bwMode="auto">
          <a:xfrm>
            <a:off x="5577840" y="1325880"/>
            <a:ext cx="3108960" cy="3200400"/>
          </a:xfrm>
          <a:custGeom>
            <a:avLst/>
            <a:gdLst>
              <a:gd name="csX0" fmla="*/ 0 w 3108960"/>
              <a:gd name="csY0" fmla="*/ 0 h 3200400"/>
              <a:gd name="csX1" fmla="*/ 3108960 w 3108960"/>
              <a:gd name="csY1" fmla="*/ 0 h 3200400"/>
              <a:gd name="csX2" fmla="*/ 3108960 w 3108960"/>
              <a:gd name="csY2" fmla="*/ 3200400 h 3200400"/>
              <a:gd name="csX3" fmla="*/ 0 w 3108960"/>
              <a:gd name="csY3" fmla="*/ 3200400 h 320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08960" h="3200400">
                <a:moveTo>
                  <a:pt x="0" y="0"/>
                </a:moveTo>
                <a:lnTo>
                  <a:pt x="3108960" y="0"/>
                </a:lnTo>
                <a:lnTo>
                  <a:pt x="3108960" y="3200400"/>
                </a:lnTo>
                <a:lnTo>
                  <a:pt x="0" y="32004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프로젝트가 해결하고자 하는 세 가지 문제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154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정리 노동의 자동화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926080"/>
            <a:ext cx="5486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반복적·소모적인 가사 정리 작업을 로봇이 자율적으로 대행하여 사용자의 생활 편의를 실질적으로 향상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3154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0604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가정용 로봇의 지능화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74720" y="2926080"/>
            <a:ext cx="5486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474720" y="3063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청소를 넘어 물체를 의미적으로 이해하고 종류별로 분류·정리하는 지능형 조작 능력 확보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06040" cy="3154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60604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6364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통합 실증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2926080"/>
            <a:ext cx="5486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63640" y="3063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Navigation·Perception·Manipulation·Reasoning을 하나의 파이프라인으로 통합한 Mobile Manipulation 사례 제시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  |  김김정변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Idea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기반 Mobile Manipulator로 의미를 이해하고 정리하는 로봇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물체의 의미를 이해하고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스스로 분류·정리 판단을 내리는 자율 정리 시스템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92024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cam ArUco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Mecanum Wheel 이동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7460" y="2468880"/>
            <a:ext cx="192024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67462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7462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74620" y="3337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 + SAM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분할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468880"/>
            <a:ext cx="192024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3337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VLM(GPT/Gemini)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 의사결정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97980" y="2468880"/>
            <a:ext cx="192024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83514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3514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35140" y="3337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Pick&amp;Place  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+ VLA 행동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실내 위치 인식은 천장 ArUco Marker 기반 절대 좌표 추정 — SLAM 없이 안정적 내비게이션 실현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  |  김김정변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ArUco 이동 → 감지 → 인식 → VLM 판단 → 조건부 분기 실행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490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ArUco 기반 이동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cam → solvePnP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약속된 거리 이동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1490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물체 감지 · 정지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전방 물체 발견 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일시 정지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1490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RealSense + SAM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3인칭 RGB-D 촬영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정밀 분할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VLM 판단 · 분기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물체 종류 식별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또는 B 선택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246120" y="292608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42900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86200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단순 → Pick&amp;Place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566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 좌표 + IK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바구니 분류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035040" y="292608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Ⓑ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75120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복잡 → 도구 + VLA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17920" y="3566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base 도구 파지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cam + SmolVLA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VLM이 물체 종류를 판단해 단순 픽앤플레이스(A)와 도구 사용 행동(B)을 자동 선택하며, 다음 ArUco 마커로 이동해 루프를 반복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  |  김김정변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Paper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ArUco 이동  →  RealSense 인식  →  VLM 판단  →  조건부 분기 실행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874520" cy="868680"/>
          </a:xfrm>
          <a:prstGeom prst="rect">
            <a:avLst/>
          </a:prstGeom>
          <a:solidFill>
            <a:srgbClr val="EAF4F4"/>
          </a:solidFill>
          <a:ln w="12700">
            <a:solidFill>
              <a:srgbClr val="B6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3990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NAVIGATION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Cam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ArUco → solvePnP</a:t>
            </a:r>
            <a:endParaRPr lang="en-US" sz="13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약속된 거리 이동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67712" y="1760220"/>
            <a:ext cx="16459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1554480" cy="868680"/>
          </a:xfrm>
          <a:prstGeom prst="rect">
            <a:avLst/>
          </a:prstGeom>
          <a:solidFill>
            <a:srgbClr val="EAF4F4"/>
          </a:solidFill>
          <a:ln w="12700">
            <a:solidFill>
              <a:srgbClr val="B6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560320" y="1399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DETECT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0" y="160020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on Object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전방 물체 감지 시</a:t>
            </a:r>
            <a:endParaRPr lang="en-US" sz="13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일시 정지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50792" y="1760220"/>
            <a:ext cx="16459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251960" y="1325880"/>
            <a:ext cx="2286000" cy="868680"/>
          </a:xfrm>
          <a:prstGeom prst="rect">
            <a:avLst/>
          </a:prstGeom>
          <a:solidFill>
            <a:srgbClr val="E8F1F8"/>
          </a:solidFill>
          <a:ln w="12700">
            <a:solidFill>
              <a:srgbClr val="B5C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343400" y="1399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PERCEPTION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70832" y="1618488"/>
            <a:ext cx="1005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B5C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370832" y="161848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</a:t>
            </a:r>
            <a:endParaRPr lang="en-US" sz="11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3rd-view RGB-D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1869948"/>
            <a:ext cx="9144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504688" y="1618488"/>
            <a:ext cx="98755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B5C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04688" y="1618488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분할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65392" y="1760220"/>
            <a:ext cx="16459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766560" y="1325880"/>
            <a:ext cx="2011680" cy="868680"/>
          </a:xfrm>
          <a:prstGeom prst="rect">
            <a:avLst/>
          </a:prstGeom>
          <a:solidFill>
            <a:srgbClr val="1F2937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0" y="1399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B6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VLM  ·  DECISION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58000" y="16002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/ Gemini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물체 종류 판단</a:t>
            </a:r>
            <a:endParaRPr lang="en-US" sz="1400" dirty="0"/>
          </a:p>
          <a:p>
            <a:pPr marL="0" indent="0" algn="ctr">
              <a:buNone/>
            </a:pPr>
            <a:r>
              <a:rPr lang="en-US" sz="900" b="1" i="1" dirty="0">
                <a:solidFill>
                  <a:srgbClr val="B6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분기 결정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2391155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판단 결과에 따른 조건부 분기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606040"/>
            <a:ext cx="8412480" cy="868680"/>
          </a:xfrm>
          <a:prstGeom prst="rect">
            <a:avLst/>
          </a:prstGeom>
          <a:solidFill>
            <a:srgbClr val="EAF4EC"/>
          </a:solidFill>
          <a:ln w="12700">
            <a:solidFill>
              <a:srgbClr val="BCDCC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02920" y="2724912"/>
            <a:ext cx="1463040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2920" y="27249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BRANCH 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57400" y="2724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단순 물체 (큐브, 공 등)  ·  VLM-EE 방식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0" y="27249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063240"/>
            <a:ext cx="2606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CDCC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94360" y="3063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 좌표 추정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position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72968" y="3236976"/>
            <a:ext cx="100584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291840" y="3063240"/>
            <a:ext cx="2606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CDCC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337560" y="3063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풀이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MoveIt2 inverse kinematics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16168" y="3236976"/>
            <a:ext cx="100584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035040" y="3063240"/>
            <a:ext cx="2606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CDCC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080760" y="3063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→ 카테고리 바구니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3611880"/>
            <a:ext cx="8412480" cy="868680"/>
          </a:xfrm>
          <a:prstGeom prst="rect">
            <a:avLst/>
          </a:prstGeom>
          <a:solidFill>
            <a:srgbClr val="FBEFE8"/>
          </a:solidFill>
          <a:ln w="12700">
            <a:solidFill>
              <a:srgbClr val="EAC5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02920" y="3730752"/>
            <a:ext cx="1463040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02920" y="37307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BRANCH 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057400" y="37307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복잡 작업 (머리카락, 멀티탭 등)  ·  도구 사용 + VLA 방식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315200" y="37307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4069080"/>
            <a:ext cx="2606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AC5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94360" y="40690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파지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base 거치대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72968" y="4242816"/>
            <a:ext cx="100584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3291840" y="4069080"/>
            <a:ext cx="2606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AC5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337560" y="40690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모델 로드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SmolVLA + Wrist cam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16168" y="4242816"/>
            <a:ext cx="100584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035040" y="4069080"/>
            <a:ext cx="2606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AC5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080760" y="40690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실행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사용 / 청소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 </a:t>
            </a: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Mobile은 Ceiling cam의 ArUco 추정 결과로 사전 정의된 거리만큼 이동하다 물체를 만나면 정지한다. RealSense·SAM·VLM이 객체를 분석하고, VLM 판단에 따라 </a:t>
            </a: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단순은 IK Pick&amp;Place(A)</a:t>
            </a: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복잡은 도구+VLA(B)</a:t>
            </a: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분기 후 다음 ArUco 마커로 이동하며 루프를 반복한다.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885103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  |  김김정변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589BCB0C-EC6A-62D1-4B50-2AF6D5B9AFDC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 rot="5400000">
            <a:off x="5966460" y="800100"/>
            <a:ext cx="411480" cy="3200400"/>
          </a:xfrm>
          <a:prstGeom prst="bentConnector3">
            <a:avLst>
              <a:gd name="adj1" fmla="val 50000"/>
            </a:avLst>
          </a:prstGeom>
          <a:ln w="28575">
            <a:solidFill>
              <a:srgbClr val="0F766E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9D24E90D-BEBA-884D-F64C-ACC9010F2A02}"/>
              </a:ext>
            </a:extLst>
          </p:cNvPr>
          <p:cNvCxnSpPr>
            <a:cxnSpLocks/>
            <a:stCxn id="20" idx="2"/>
            <a:endCxn id="39" idx="3"/>
          </p:cNvCxnSpPr>
          <p:nvPr/>
        </p:nvCxnSpPr>
        <p:spPr>
          <a:xfrm rot="16200000" flipH="1">
            <a:off x="7349490" y="2617470"/>
            <a:ext cx="1851660" cy="1005840"/>
          </a:xfrm>
          <a:prstGeom prst="bentConnector4">
            <a:avLst>
              <a:gd name="adj1" fmla="val 11182"/>
              <a:gd name="adj2" fmla="val 115454"/>
            </a:avLst>
          </a:prstGeom>
          <a:ln w="28575">
            <a:solidFill>
              <a:srgbClr val="0F766E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 구성과 데이터 흐름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1325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673352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1554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Mecanum Wheel + ST3215 Motor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2002536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0" y="18836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18836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DoF Arm + Custom Gripper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2331720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0" y="22128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cam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212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천장 ArUco 마커 탐지 (Localization)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2660904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0" y="25420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5420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D435i — 3인칭 RGB-D (객체 인식)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2990088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0" y="28712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cam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8712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Webcam — 1인칭 (VLA 입력)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0" y="3319272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Mac Mini (M4) + Neural Engine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89120" y="3657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950208"/>
            <a:ext cx="4297680" cy="7772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480560" y="3968496"/>
            <a:ext cx="416052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 → SAM → VLM </a:t>
            </a:r>
            <a:r>
              <a:rPr lang="en-US" sz="9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(decision)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A. </a:t>
            </a: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→ Pick &amp; Place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 B. </a:t>
            </a: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Grasp → SmolVLA(Wrist cam) → Action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  |  김김정변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27321463-B56A-385D-7EF8-95ACDB64DF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96" t="568" r="16046"/>
          <a:stretch>
            <a:fillRect/>
          </a:stretch>
        </p:blipFill>
        <p:spPr>
          <a:xfrm>
            <a:off x="457200" y="1325881"/>
            <a:ext cx="3657600" cy="3200399"/>
          </a:xfrm>
          <a:custGeom>
            <a:avLst/>
            <a:gdLst>
              <a:gd name="csX0" fmla="*/ 0 w 3657600"/>
              <a:gd name="csY0" fmla="*/ 0 h 3200399"/>
              <a:gd name="csX1" fmla="*/ 3657600 w 3657600"/>
              <a:gd name="csY1" fmla="*/ 0 h 3200399"/>
              <a:gd name="csX2" fmla="*/ 3657600 w 3657600"/>
              <a:gd name="csY2" fmla="*/ 3200399 h 3200399"/>
              <a:gd name="csX3" fmla="*/ 0 w 3657600"/>
              <a:gd name="csY3" fmla="*/ 3200399 h 3200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57600" h="3200399">
                <a:moveTo>
                  <a:pt x="0" y="0"/>
                </a:moveTo>
                <a:lnTo>
                  <a:pt x="3657600" y="0"/>
                </a:lnTo>
                <a:lnTo>
                  <a:pt x="3657600" y="3200399"/>
                </a:lnTo>
                <a:lnTo>
                  <a:pt x="0" y="3200399"/>
                </a:lnTo>
                <a:close/>
              </a:path>
            </a:pathLst>
          </a:custGeom>
          <a:noFill/>
          <a:ln>
            <a:noFill/>
          </a:ln>
          <a:effectLst/>
        </p:spPr>
      </p:pic>
      <p:sp>
        <p:nvSpPr>
          <p:cNvPr id="32" name="Text 3">
            <a:extLst>
              <a:ext uri="{FF2B5EF4-FFF2-40B4-BE49-F238E27FC236}">
                <a16:creationId xmlns:a16="http://schemas.microsoft.com/office/drawing/2014/main" id="{E7E1D165-D1C7-69CF-A706-883B04FE6ED5}"/>
              </a:ext>
            </a:extLst>
          </p:cNvPr>
          <p:cNvSpPr/>
          <p:nvPr/>
        </p:nvSpPr>
        <p:spPr>
          <a:xfrm>
            <a:off x="457200" y="13258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Unique 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가정용 로봇과의 4가지 차별점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다기능 물리 조작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1673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Cleaning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흡입·걸레질에 머문 기존 로봇청소기와 달리, 6 DoF Manipulator로 직접 집어 분류. 청소 보조, 반려동물 케어 등 확장 가능한 구조.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50292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177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저비용 절대좌표 내비게이션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57800" y="1673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LiDAR, No SLAM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고가 LiDAR·SLAM 스택 대신 천장 ArUco Marker + Ceiling cam으로 절대 좌표 추정. drift 없는 신뢰성 있는 반복 작업.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VLA·VLM 의미 추론형 정리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3364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Reasoning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3703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정의 클래스에 종속된 YOLO와 달리, SAM + VLM 조합으로 zero-shot 분할·맥락 추론. 자연어 명령 확장 가능.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301752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17720" y="3017520"/>
            <a:ext cx="50292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6177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도구 사용(Tool Use)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257800" y="3364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Housework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3703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린트롤러를 직접 파지해 청소하는 도구 사용 패러다임. 빗자루·행주 등 다양한 도구로 확장되는 가사 보조 구조.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  |  김김정변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Models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파이프라인을 구성하는 AI 모델 조합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7724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Segment Anything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범용 객체 분할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4572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정밀 세그멘테이션. Depth와 결합해 grasp point 산출.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0604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429000" y="1600200"/>
            <a:ext cx="77724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429000" y="1600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 / Gemini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고수준 Task Planning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2788920"/>
            <a:ext cx="4572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429000" y="28803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이름·카테고리·우선순위·파지 방식을 JSON으로 출력하는 의미 기반 의사결정.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60604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17920" y="1600200"/>
            <a:ext cx="77724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17920" y="1600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SmolVLA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Vision-Language-Action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2788920"/>
            <a:ext cx="4572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217920" y="28803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입력 + 작업 명령을 통합 처리하여 행동 시퀀스를 end-to-end로 생성.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Inference Strategy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인식(SAM)은 Mac Mini M4 Neural Engine 로컬 추론, 고수준 추론(VLM)은 API 호출 — 응답 지연 최소화 + 추론 품질 확보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  |  김김정변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방법 및 활용 기술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Languages &amp; Design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(메인)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(저수준 제어)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360 (3D CAD)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29000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Robot Middleware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MoveIt2 (모션 플래닝)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PyRoki (IK)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0604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17920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&amp; Vision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82880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/ SmolVLA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(ArUco)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pyrealsense2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0604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Control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Feetech SDK (ST3215)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+ MoveIt2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Mini M4 Neural Engine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60604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429000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5204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(소스 관리)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(일정·문서)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 · Discord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0604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217920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5204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(Linux 컨테이너)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호환성 우회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  |  김김정변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 ~ 10월, 7개월 추진일정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786384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52728" y="2167128"/>
            <a:ext cx="329184" cy="329184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계획·기반 구축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73736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 확정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부품 조달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개발환경 구축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2988" y="2167128"/>
            <a:ext cx="329184" cy="329184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3746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4~5월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3746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분석·설계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28900" y="2697480"/>
            <a:ext cx="173736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720340" y="278892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성능 검증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CAD 설계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노드 구조 설계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13248" y="2167128"/>
            <a:ext cx="329184" cy="329184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1772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6~8월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개발·통합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697480"/>
            <a:ext cx="173736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00600" y="278892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H/W 조립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모듈 구현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파이프라인 통합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93508" y="2167128"/>
            <a:ext cx="329184" cy="329184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69798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9~10월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798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테스트·발표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89420" y="2697480"/>
            <a:ext cx="173736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80860" y="278892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5종 물체 통합 테스트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영상·보고서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결선 발표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→ 분석 → 설계 → 개발 → 테스트 → 종료의 단계적 흐름으로 안정적 시제품 완성을 목표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  |  김김정변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사회적·산업적 기대효과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사회적 측면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486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794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맞벌이·육아 가구의 정리 부담 완화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 가사 정리를 자동화하여 실질적 생활 편의 제공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보육 시설의 업무 경감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어린이집·유치원 등에서 장난감·교구 정리를 자동화하여 교사 업무 부담 감소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 보유 가구 지원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물건이 어질러지기 쉬운 환경의 실질적 수혜자가 될 수 있음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산업적 측면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37760" y="2331720"/>
            <a:ext cx="5486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937760" y="246888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Manipulation 실증 사례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단계에서 상용화로 이행하는 과도기의 구체적 기술 검증 사례 제공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물류·창고 환경 확장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소형 물품 분류·정리 자동화로 산업 현장 적용 가능성 확보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스마트홈 플랫폼 연계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IoT 생태계와 결합되어 차세대 가정용 서비스 로봇 시장 진입 기반 마련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  |  김김정변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김김정변 — 4인의 역량으로 완성하는 시스템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54864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변지민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34472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팀대표 · System Architect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3813048"/>
            <a:ext cx="4572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세종대학교 </a:t>
            </a:r>
            <a:r>
              <a:rPr lang="en-US" altLang="ko-KR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로봇학과 </a:t>
            </a:r>
            <a:r>
              <a:rPr lang="en-US" altLang="ko-KR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학번</a:t>
            </a:r>
            <a:endParaRPr lang="en-US" altLang="ko-KR" sz="10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altLang="ko-KR" sz="1000" dirty="0"/>
              <a:t>HRI </a:t>
            </a:r>
            <a:r>
              <a:rPr lang="ko-KR" altLang="en-US" sz="1000" dirty="0"/>
              <a:t>분야 학부연구생</a:t>
            </a:r>
            <a:endParaRPr lang="en-US" altLang="ko-KR" sz="1000" dirty="0"/>
          </a:p>
        </p:txBody>
      </p:sp>
      <p:sp>
        <p:nvSpPr>
          <p:cNvPr id="13" name="Shape 11"/>
          <p:cNvSpPr/>
          <p:nvPr/>
        </p:nvSpPr>
        <p:spPr>
          <a:xfrm>
            <a:off x="2537460" y="132588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Picture 2">
            <a:extLst>
              <a:ext uri="{FF2B5EF4-FFF2-40B4-BE49-F238E27FC236}">
                <a16:creationId xmlns:a16="http://schemas.microsoft.com/office/drawing/2014/main" id="{B9EEDA87-2415-F635-498A-363D89C57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493" y="1463040"/>
            <a:ext cx="1100173" cy="141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hape 14"/>
          <p:cNvSpPr/>
          <p:nvPr/>
        </p:nvSpPr>
        <p:spPr>
          <a:xfrm>
            <a:off x="2766060" y="1554480"/>
            <a:ext cx="54864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66060" y="15544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H/W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462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김기현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74620" y="34472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Base Engineer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8980" y="3813048"/>
            <a:ext cx="4572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53746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세종대학교 </a:t>
            </a:r>
            <a:r>
              <a:rPr lang="en-US" altLang="ko-KR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로봇학과 </a:t>
            </a:r>
            <a:r>
              <a:rPr lang="en-US" altLang="ko-KR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학번</a:t>
            </a:r>
            <a:endParaRPr lang="en-US" altLang="ko-KR" sz="10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altLang="ko-KR" sz="1000" dirty="0"/>
              <a:t>Robotics &amp; CV </a:t>
            </a:r>
            <a:r>
              <a:rPr lang="ko-KR" altLang="en-US" sz="1000" dirty="0"/>
              <a:t>분야</a:t>
            </a:r>
            <a:endParaRPr lang="en-US" altLang="ko-KR" sz="1000" dirty="0"/>
          </a:p>
          <a:p>
            <a:pPr algn="ctr"/>
            <a:r>
              <a:rPr lang="ko-KR" altLang="en-US" sz="1000" dirty="0"/>
              <a:t>학부연구생</a:t>
            </a:r>
            <a:endParaRPr lang="en-US" altLang="ko-KR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132588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846320" y="1554480"/>
            <a:ext cx="54864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46320" y="15544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김시우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54880" y="34472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Engineer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9240" y="3813048"/>
            <a:ext cx="4572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61772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세종대학교 </a:t>
            </a:r>
            <a:r>
              <a:rPr lang="en-US" altLang="ko-KR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로봇학과 </a:t>
            </a:r>
            <a:r>
              <a:rPr lang="en-US" altLang="ko-KR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학번</a:t>
            </a:r>
            <a:endParaRPr lang="en-US" altLang="ko-KR" sz="10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697980" y="132588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926580" y="1554480"/>
            <a:ext cx="54864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926580" y="15544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3514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정지아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835140" y="34472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Perception Engineer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29500" y="3813048"/>
            <a:ext cx="4572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69798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세종대학교 </a:t>
            </a:r>
            <a:r>
              <a:rPr lang="en-US" altLang="ko-KR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로봇학과 </a:t>
            </a:r>
            <a:r>
              <a:rPr lang="en-US" altLang="ko-KR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학번</a:t>
            </a:r>
            <a:endParaRPr lang="en-US" altLang="ko-KR" sz="10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  |  김김정변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13716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기반 Mobile Manipulator를 활용한 실내 정리 &amp; 비서 시스템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김김정변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변지민  ·  김기현  ·  김시우  ·  정지아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세종대학교 AI로봇학과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ROOKIE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1374</Words>
  <Application>Microsoft Macintosh PowerPoint</Application>
  <PresentationFormat>화면 슬라이드 쇼(16:9)</PresentationFormat>
  <Paragraphs>301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ROOKIE 2026 - 김김정변</dc:title>
  <dc:subject>PptxGenJS Presentation</dc:subject>
  <dc:creator>PptxGenJS</dc:creator>
  <cp:lastModifiedBy>변지민</cp:lastModifiedBy>
  <cp:revision>4</cp:revision>
  <dcterms:created xsi:type="dcterms:W3CDTF">2026-05-04T13:16:48Z</dcterms:created>
  <dcterms:modified xsi:type="dcterms:W3CDTF">2026-05-07T11:08:07Z</dcterms:modified>
</cp:coreProperties>
</file>