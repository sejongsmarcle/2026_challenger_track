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7" r:id="rId7"/>
    <p:sldId id="260" r:id="rId8"/>
    <p:sldId id="269" r:id="rId9"/>
    <p:sldId id="268" r:id="rId10"/>
    <p:sldId id="262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923C"/>
    <a:srgbClr val="162435"/>
    <a:srgbClr val="1A2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5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3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AB77-4A06-A3CE-6035-43A2EE8A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F7475-C418-B189-35A7-0DB7EA572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A6659-59CD-D2D5-6871-129BAFA97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997C8-1785-B49E-1174-6613D592D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88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그리드 구성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마커의 테두리와 외곽 매트릭스를 제거하면 내부에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5x5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크기의 데이터 그리드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남습니다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비트 추출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5x5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그리드 중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번째 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만이 실제 데이터 비트를 담고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나머지 열은 오류 감지를 위한 패리티 비트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(parity bit)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사용됩니다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＝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 변환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칸의 색상을 기준으로 흰색은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검은색은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읽습니다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추출된 데이터 비트들을 조합하여 십진수 값으로 변환하면 마커의 고유한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도출됩니다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영상에서 설명한 마커 데이터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(0011000000)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십진수로 변환하면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값을 갖게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F5C11-D1DB-2171-D46E-8EF3B95A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B7FA7-51E7-51FF-C265-7036F42E8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05FD2-4B59-1704-2F8A-F1723BCE2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20BB4-6D71-F9FD-BA9F-28A70A4E8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93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텍스처가 없는 흰 벽이나 단조로운 배경에서는 스테레오 매칭이 어려움 이때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적외선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방출기가 미세한 점 패턴을 뿌려주면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카메라가 이를 랜드마크 삼아 거리를 훨씬 정확하게 계산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B7E9-6FB5-BDF1-081D-6015C70E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5C959-FB0A-6089-9206-4094EEDB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E8820-A293-F72F-7A36-3D45206C1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0CD4-BB44-5F23-FBFE-67F7CB4A3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53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D911-EBCE-C4AE-A671-5AF2D405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5C632-4F31-4DD5-49C2-D3716D925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9BAD2-CC73-9847-BE2D-578607FEB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45AF-21FE-A463-6608-43DAA39B0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23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40080" y="1154649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ko-KR" altLang="en-US" sz="12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</a:t>
            </a:r>
            <a:r>
              <a:rPr lang="en-US" sz="1200" b="1" kern="0" spc="300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</a:t>
            </a:r>
            <a:r>
              <a:rPr lang="en-US" sz="12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공유회  |  스터디 발표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28437"/>
            <a:ext cx="7315200" cy="1662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</a:t>
            </a:r>
            <a:r>
              <a:rPr lang="en-US" sz="4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Smarcle</a:t>
            </a:r>
            <a:endParaRPr lang="en-US" sz="4800" b="1" dirty="0">
              <a:solidFill>
                <a:srgbClr val="FFFFF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Challenger </a:t>
            </a: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</a:rPr>
              <a:t>Track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3103385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변지민 김기현 김시우 정지아</a:t>
            </a:r>
            <a:endParaRPr 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8FE1-D4D8-7040-5BEF-7E51DD44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400863-F562-DFDF-DDC8-12AAFEFBBE4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E401AF-A362-7B84-4540-10C0182807FA}"/>
              </a:ext>
            </a:extLst>
          </p:cNvPr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Study Content</a:t>
            </a:r>
            <a:endParaRPr lang="en-US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C8D011-D638-A347-E209-9D65D4734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48" y="1083808"/>
            <a:ext cx="3794460" cy="3679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C9D2199-46BA-8623-0F06-7D9F56BC5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084756"/>
            <a:ext cx="4093157" cy="367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691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Content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49889" y="1136370"/>
            <a:ext cx="7406640" cy="114300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Shape 3"/>
          <p:cNvSpPr/>
          <p:nvPr/>
        </p:nvSpPr>
        <p:spPr>
          <a:xfrm>
            <a:off x="849889" y="1136370"/>
            <a:ext cx="502920" cy="114300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9889" y="148384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953009" y="13109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 Marker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89968" y="1766190"/>
            <a:ext cx="6626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Zhang's Method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의 </a:t>
            </a:r>
            <a:r>
              <a:rPr lang="en-US" altLang="ko-KR" sz="1100" dirty="0" err="1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카메라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</a:t>
            </a:r>
            <a:r>
              <a:rPr lang="en-US" altLang="ko-KR" sz="1100" dirty="0" err="1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캘리브레이션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| </a:t>
            </a:r>
            <a:r>
              <a:rPr lang="en-US" altLang="ko-KR" sz="1100" dirty="0" err="1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프로젝트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내 활용 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(</a:t>
            </a:r>
            <a:r>
              <a:rPr lang="en-US" altLang="ko-KR" sz="1100" dirty="0" err="1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실내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</a:t>
            </a:r>
            <a:r>
              <a:rPr lang="en-US" altLang="ko-KR" sz="1100" dirty="0" err="1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위치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</a:t>
            </a:r>
            <a:r>
              <a:rPr lang="en-US" altLang="ko-KR" sz="1100" dirty="0" err="1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인식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)</a:t>
            </a:r>
            <a:endParaRPr lang="en-US" altLang="ko-KR" sz="1100" dirty="0">
              <a:latin typeface="한컴산뜻돋움" panose="02000000000000000000" pitchFamily="2" charset="-127"/>
              <a:ea typeface="한컴산뜻돋움" panose="02000000000000000000" pitchFamily="2" charset="-127"/>
              <a:cs typeface="ADLaM Display" panose="020F05020202040302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36847" y="178683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9889" y="2434818"/>
            <a:ext cx="7406640" cy="114300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49889" y="2434818"/>
            <a:ext cx="502920" cy="114300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9889" y="278229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53009" y="260398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Camera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9889" y="3733266"/>
            <a:ext cx="7406640" cy="114300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849889" y="3733266"/>
            <a:ext cx="502920" cy="114300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9889" y="408073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71800" y="388871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</a:t>
            </a:r>
            <a:endParaRPr lang="en-US" sz="15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540B6D38-2751-FF3E-2F2D-03D6763FF595}"/>
              </a:ext>
            </a:extLst>
          </p:cNvPr>
          <p:cNvSpPr/>
          <p:nvPr/>
        </p:nvSpPr>
        <p:spPr>
          <a:xfrm>
            <a:off x="1500234" y="3057020"/>
            <a:ext cx="6626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RGB + Depth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융합 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| 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프로젝트 내 활용 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(3D 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위치 추정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)</a:t>
            </a:r>
            <a:endParaRPr lang="en-US" altLang="ko-KR" sz="1100" dirty="0">
              <a:latin typeface="한컴산뜻돋움" panose="02000000000000000000" pitchFamily="2" charset="-127"/>
              <a:ea typeface="한컴산뜻돋움" panose="02000000000000000000" pitchFamily="2" charset="-127"/>
              <a:cs typeface="ADLaM Display" panose="020F0502020204030204" pitchFamily="2" charset="0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9BDD8E5-8C8E-A449-AA44-769D4EECCFA5}"/>
              </a:ext>
            </a:extLst>
          </p:cNvPr>
          <p:cNvSpPr/>
          <p:nvPr/>
        </p:nvSpPr>
        <p:spPr>
          <a:xfrm>
            <a:off x="1489967" y="4304766"/>
            <a:ext cx="6626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객체 탐지 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| YOLO World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| 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프로젝트 내 활용 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(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객체 탐지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+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분류</a:t>
            </a:r>
            <a:r>
              <a:rPr lang="en-US" altLang="ko-KR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)</a:t>
            </a:r>
            <a:r>
              <a:rPr lang="ko-KR" altLang="en-US" sz="1100" dirty="0">
                <a:solidFill>
                  <a:srgbClr val="E8EFF5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ADLaM Display" panose="020F0502020204030204" pitchFamily="2" charset="0"/>
              </a:rPr>
              <a:t> </a:t>
            </a:r>
            <a:endParaRPr lang="en-US" altLang="ko-KR" sz="1100" dirty="0">
              <a:latin typeface="한컴산뜻돋움" panose="02000000000000000000" pitchFamily="2" charset="-127"/>
              <a:ea typeface="한컴산뜻돋움" panose="02000000000000000000" pitchFamily="2" charset="-127"/>
              <a:cs typeface="ADLaM Display" panose="020F05020202040302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ArUco Marker 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8620" y="1168263"/>
            <a:ext cx="5029200" cy="3558837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305657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A78BFA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ArUco</a:t>
            </a:r>
            <a:r>
              <a:rPr lang="en-US" sz="1500" b="1" dirty="0">
                <a:solidFill>
                  <a:srgbClr val="A78BFA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Marker</a:t>
            </a:r>
            <a:endParaRPr lang="en-US" sz="15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3393" y="1799995"/>
            <a:ext cx="4572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173358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사전Dictionary</a:t>
            </a:r>
            <a:r>
              <a:rPr lang="en-US" sz="1200" b="1" dirty="0">
                <a:solidFill>
                  <a:srgbClr val="FFFFFF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기반</a:t>
            </a:r>
            <a:r>
              <a:rPr lang="en-US" sz="1200" b="1" dirty="0">
                <a:solidFill>
                  <a:srgbClr val="FFFFFF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인식</a:t>
            </a:r>
            <a:endParaRPr lang="en-US" sz="12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007901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4×4 / 5×5 등 격자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크기별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사전</a:t>
            </a:r>
            <a:r>
              <a:rPr lang="ko-KR" alt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이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존재</a:t>
            </a:r>
            <a:r>
              <a:rPr lang="ko-KR" alt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하며 </a:t>
            </a:r>
            <a:endParaRPr lang="en-US" altLang="ko-KR" sz="1050" dirty="0">
              <a:solidFill>
                <a:srgbClr val="8FA3B1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각 마커는 사전 내 고유 ID를 가짐</a:t>
            </a:r>
            <a:endParaRPr lang="en-US" sz="105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77839" y="1190854"/>
            <a:ext cx="3200400" cy="355883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5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79" y="125575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A78BFA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이진 정사각형 마커</a:t>
            </a:r>
            <a:endParaRPr lang="en-US" sz="130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8AAF4D-1B7F-DF27-608E-5AA27DE1F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881" y="1686408"/>
            <a:ext cx="2774317" cy="234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 7">
            <a:extLst>
              <a:ext uri="{FF2B5EF4-FFF2-40B4-BE49-F238E27FC236}">
                <a16:creationId xmlns:a16="http://schemas.microsoft.com/office/drawing/2014/main" id="{7D494564-FA6B-FA53-1350-2BEF443D63AA}"/>
              </a:ext>
            </a:extLst>
          </p:cNvPr>
          <p:cNvSpPr/>
          <p:nvPr/>
        </p:nvSpPr>
        <p:spPr>
          <a:xfrm>
            <a:off x="5760720" y="4185027"/>
            <a:ext cx="27982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흑백 격자 패턴으로 고유 ID를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인코딩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카메라로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감지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시</a:t>
            </a:r>
            <a:r>
              <a:rPr lang="ko-KR" alt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에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마커의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위치·자세를</a:t>
            </a:r>
            <a:r>
              <a:rPr lang="en-US" sz="1050" dirty="0">
                <a:solidFill>
                  <a:srgbClr val="8FA3B1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Calibri" pitchFamily="34" charset="-120"/>
              </a:rPr>
              <a:t> 계산 가능</a:t>
            </a:r>
            <a:endParaRPr lang="en-US" sz="1050" dirty="0"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7828CBBB-AFFA-8641-F892-695FCA82B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99" y="2571750"/>
            <a:ext cx="3200400" cy="19127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82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|  </a:t>
            </a:r>
            <a:r>
              <a:rPr lang="en-US" altLang="ko-KR" sz="2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ArUco</a:t>
            </a:r>
            <a:r>
              <a:rPr lang="en-US" altLang="ko-KR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Marker </a:t>
            </a:r>
            <a:endParaRPr lang="en-US" altLang="ko-KR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13921"/>
            <a:ext cx="4206240" cy="2560320"/>
          </a:xfrm>
          <a:prstGeom prst="rect">
            <a:avLst/>
          </a:prstGeom>
          <a:solidFill>
            <a:srgbClr val="162435"/>
          </a:solidFill>
          <a:ln w="1905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altLang="ko-KR" sz="1000" dirty="0" err="1"/>
              <a:t>nN</a:t>
            </a:r>
            <a:endParaRPr lang="ko-KR" alt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13921"/>
            <a:ext cx="4206240" cy="384048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68785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Zhang's Method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19030" y="1682654"/>
            <a:ext cx="45719" cy="45719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5937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카메라의 위치</a:t>
            </a:r>
            <a:r>
              <a:rPr lang="en-US" altLang="ko-KR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외적 파라미터</a:t>
            </a:r>
            <a:r>
              <a:rPr lang="en-US" altLang="ko-KR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는 고려하지 않고</a:t>
            </a:r>
            <a:r>
              <a:rPr lang="en-US" altLang="ko-KR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r>
              <a:rPr lang="ko-KR" altLang="en-US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카메라 자체의 특성인 </a:t>
            </a:r>
            <a:r>
              <a:rPr lang="ko-KR" altLang="en-US" sz="1000" b="1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내부 </a:t>
            </a:r>
            <a:r>
              <a:rPr lang="ko-KR" altLang="en-US" sz="1000" b="1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파라미터</a:t>
            </a:r>
            <a:r>
              <a:rPr lang="ko-KR" altLang="en-US" sz="100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만을</a:t>
            </a:r>
            <a:r>
              <a:rPr lang="ko-KR" altLang="en-US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추정하는 방식</a:t>
            </a:r>
            <a:r>
              <a:rPr lang="en-US" altLang="ko-KR" sz="10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en-US" sz="10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9030" y="2139854"/>
            <a:ext cx="45719" cy="45719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0509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내부 파라미터(Intrinsic)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초점거리</a:t>
            </a: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(fx, fy), 주점(cx, cy), 왜곡계수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9030" y="2597054"/>
            <a:ext cx="45719" cy="45719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537559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외부 파라미터(Extrinsic)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카메라의 회전(R)·이동(t) 행렬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1013921"/>
            <a:ext cx="4023360" cy="2560320"/>
          </a:xfrm>
          <a:prstGeom prst="rect">
            <a:avLst/>
          </a:prstGeom>
          <a:solidFill>
            <a:srgbClr val="162435"/>
          </a:solidFill>
          <a:ln w="1905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Shape 25"/>
          <p:cNvSpPr/>
          <p:nvPr/>
        </p:nvSpPr>
        <p:spPr>
          <a:xfrm>
            <a:off x="365760" y="3757121"/>
            <a:ext cx="8412480" cy="1188720"/>
          </a:xfrm>
          <a:prstGeom prst="rect">
            <a:avLst/>
          </a:prstGeom>
          <a:solidFill>
            <a:srgbClr val="162435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093976" y="380284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SLAM vs ArUco Marker 방식 비교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271016" y="4094386"/>
            <a:ext cx="137160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307592" y="412181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방식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642616" y="4094386"/>
            <a:ext cx="137160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79192" y="412181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계산량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014216" y="4094386"/>
            <a:ext cx="118872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050792" y="412181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Drift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202936" y="4094386"/>
            <a:ext cx="164592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239512" y="412181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설치 비용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848856" y="4094386"/>
            <a:ext cx="100584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885432" y="412181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선택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271016" y="4341274"/>
            <a:ext cx="1371600" cy="23774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07592" y="436870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SLAM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642616" y="4341274"/>
            <a:ext cx="1371600" cy="23774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679192" y="436870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높음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014216" y="4341274"/>
            <a:ext cx="1188720" cy="23774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050792" y="436870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있음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202936" y="4341274"/>
            <a:ext cx="1645920" cy="23774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239512" y="436870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LiDAR 필요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48856" y="4341274"/>
            <a:ext cx="1005840" cy="23774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85432" y="4368706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271016" y="4588162"/>
            <a:ext cx="1371600" cy="237744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307592" y="461559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ArUco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642616" y="4588162"/>
            <a:ext cx="1371600" cy="237744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2679192" y="461559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낮음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014216" y="4588162"/>
            <a:ext cx="1188720" cy="237744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050792" y="461559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없음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202936" y="4588162"/>
            <a:ext cx="1645920" cy="237744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239512" y="461559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마커만 부착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848856" y="4588162"/>
            <a:ext cx="1005840" cy="237744"/>
          </a:xfrm>
          <a:prstGeom prst="rect">
            <a:avLst/>
          </a:prstGeom>
          <a:solidFill>
            <a:srgbClr val="162030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885432" y="461559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✓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E37026FB-5DD6-FCAB-BCE1-B3CEB5FA77E8}"/>
              </a:ext>
            </a:extLst>
          </p:cNvPr>
          <p:cNvSpPr/>
          <p:nvPr/>
        </p:nvSpPr>
        <p:spPr>
          <a:xfrm>
            <a:off x="531958" y="3141057"/>
            <a:ext cx="45719" cy="45719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 sz="100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3853FAFB-8839-03C3-C1CD-2EC96FEA1373}"/>
              </a:ext>
            </a:extLst>
          </p:cNvPr>
          <p:cNvSpPr/>
          <p:nvPr/>
        </p:nvSpPr>
        <p:spPr>
          <a:xfrm>
            <a:off x="653008" y="29962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특수한 장비가 필요 없다는 점에서 많은 표준 라이브러리에서 사용됨</a:t>
            </a:r>
            <a:endParaRPr lang="en-US" altLang="ko-KR" sz="1000" b="1" dirty="0">
              <a:solidFill>
                <a:srgbClr val="E8EFF5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Calibri" pitchFamily="34" charset="-120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8BAA52F3-33D4-1A72-29F8-B63C8139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223" y="1153884"/>
            <a:ext cx="2896673" cy="21910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9A32-036B-9B22-DD94-521C0787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4">
            <a:extLst>
              <a:ext uri="{FF2B5EF4-FFF2-40B4-BE49-F238E27FC236}">
                <a16:creationId xmlns:a16="http://schemas.microsoft.com/office/drawing/2014/main" id="{809886D3-31F6-DAE4-3788-2C84B6C23894}"/>
              </a:ext>
            </a:extLst>
          </p:cNvPr>
          <p:cNvSpPr/>
          <p:nvPr/>
        </p:nvSpPr>
        <p:spPr>
          <a:xfrm>
            <a:off x="5822730" y="1950563"/>
            <a:ext cx="2955509" cy="1643974"/>
          </a:xfrm>
          <a:prstGeom prst="rect">
            <a:avLst/>
          </a:prstGeom>
          <a:solidFill>
            <a:srgbClr val="162435"/>
          </a:solidFill>
          <a:ln w="1905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sz="10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1EA919A-A514-E445-C53A-D3914F797AE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46CFC5-BCD7-6AB9-7C45-154836D392F8}"/>
              </a:ext>
            </a:extLst>
          </p:cNvPr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01 | </a:t>
            </a:r>
            <a:r>
              <a:rPr lang="en-US" sz="2200" b="1" dirty="0" err="1">
                <a:solidFill>
                  <a:srgbClr val="FFFFFF"/>
                </a:solidFill>
                <a:latin typeface="Arial Black" pitchFamily="34" charset="0"/>
              </a:rPr>
              <a:t>ArUco</a:t>
            </a: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</a:rPr>
              <a:t> Marker</a:t>
            </a:r>
            <a:endParaRPr lang="en-US" sz="2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19017E-871F-87B2-82EC-DA27CB96A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7" b="9847"/>
          <a:stretch>
            <a:fillRect/>
          </a:stretch>
        </p:blipFill>
        <p:spPr>
          <a:xfrm>
            <a:off x="365760" y="1314268"/>
            <a:ext cx="5225557" cy="3278753"/>
          </a:xfrm>
          <a:prstGeom prst="rect">
            <a:avLst/>
          </a:prstGeom>
        </p:spPr>
      </p:pic>
      <p:sp>
        <p:nvSpPr>
          <p:cNvPr id="5" name="Shape 15">
            <a:extLst>
              <a:ext uri="{FF2B5EF4-FFF2-40B4-BE49-F238E27FC236}">
                <a16:creationId xmlns:a16="http://schemas.microsoft.com/office/drawing/2014/main" id="{2CC9A14C-9F2F-2110-AC81-FB4DF688D981}"/>
              </a:ext>
            </a:extLst>
          </p:cNvPr>
          <p:cNvSpPr/>
          <p:nvPr/>
        </p:nvSpPr>
        <p:spPr>
          <a:xfrm>
            <a:off x="5822730" y="1950563"/>
            <a:ext cx="2955510" cy="384048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ko-KR" altLang="en-US" sz="1000" dirty="0"/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5074243D-4840-2E83-8FDD-B3D808EAD935}"/>
              </a:ext>
            </a:extLst>
          </p:cNvPr>
          <p:cNvSpPr/>
          <p:nvPr/>
        </p:nvSpPr>
        <p:spPr>
          <a:xfrm>
            <a:off x="5380244" y="2005427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내에서의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 18">
            <a:extLst>
              <a:ext uri="{FF2B5EF4-FFF2-40B4-BE49-F238E27FC236}">
                <a16:creationId xmlns:a16="http://schemas.microsoft.com/office/drawing/2014/main" id="{588FEA5D-3AE6-831F-3637-82997A8017F8}"/>
              </a:ext>
            </a:extLst>
          </p:cNvPr>
          <p:cNvSpPr/>
          <p:nvPr/>
        </p:nvSpPr>
        <p:spPr>
          <a:xfrm>
            <a:off x="6174828" y="244862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천장에 ArUco Marker 부착 →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로봇</a:t>
            </a:r>
            <a:r>
              <a:rPr lang="ko-KR" alt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과 물체들 사이의 </a:t>
            </a:r>
            <a:r>
              <a:rPr lang="en-US" sz="100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절대</a:t>
            </a: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좌표 추정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20">
            <a:extLst>
              <a:ext uri="{FF2B5EF4-FFF2-40B4-BE49-F238E27FC236}">
                <a16:creationId xmlns:a16="http://schemas.microsoft.com/office/drawing/2014/main" id="{9BF611C6-6529-E948-EA81-8E318923F888}"/>
              </a:ext>
            </a:extLst>
          </p:cNvPr>
          <p:cNvSpPr/>
          <p:nvPr/>
        </p:nvSpPr>
        <p:spPr>
          <a:xfrm>
            <a:off x="6174828" y="2967385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SLAM / LiDAR </a:t>
            </a:r>
            <a:r>
              <a:rPr lang="en-US" sz="100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없이</a:t>
            </a: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위치인식</a:t>
            </a:r>
            <a:r>
              <a:rPr lang="en-US" sz="10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구현 →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저비용화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8823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|  RGB-D Camera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937760" cy="3840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RGB-D Camera</a:t>
            </a:r>
            <a:endParaRPr lang="en-US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Shape 5"/>
          <p:cNvSpPr/>
          <p:nvPr/>
        </p:nvSpPr>
        <p:spPr>
          <a:xfrm flipV="1">
            <a:off x="634816" y="1686378"/>
            <a:ext cx="45719" cy="45719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RGB-D</a:t>
            </a:r>
            <a:r>
              <a:rPr lang="ko-KR" altLang="en-US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의 개념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1840729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일반적인 </a:t>
            </a:r>
            <a:r>
              <a:rPr lang="en-US" altLang="ko-KR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RGB(</a:t>
            </a:r>
            <a:r>
              <a:rPr lang="ko-KR" altLang="en-US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색상</a:t>
            </a:r>
            <a:r>
              <a:rPr lang="en-US" altLang="ko-KR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이미지에 깊이</a:t>
            </a:r>
            <a:r>
              <a:rPr lang="en-US" altLang="ko-KR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(Depth) </a:t>
            </a:r>
            <a:r>
              <a:rPr lang="ko-KR" altLang="en-US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정보를 더해 물체 간의 거리를 파악함으로써</a:t>
            </a:r>
            <a:r>
              <a:rPr lang="en-US" altLang="ko-KR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객체 분할</a:t>
            </a:r>
            <a:r>
              <a:rPr lang="en-US" altLang="ko-KR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경계 추출을 쉽게 만듦</a:t>
            </a:r>
            <a:r>
              <a:rPr lang="en-US" altLang="ko-KR" sz="110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en-US" sz="110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32120" y="960120"/>
            <a:ext cx="3246120" cy="3840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23560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깊이 측정 방식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0" y="1508760"/>
            <a:ext cx="2926080" cy="914400"/>
          </a:xfrm>
          <a:prstGeom prst="rect">
            <a:avLst/>
          </a:prstGeom>
          <a:solidFill>
            <a:srgbClr val="065F46"/>
          </a:solidFill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15000" y="155448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구조광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(Structured Light)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20840" y="1600200"/>
            <a:ext cx="0" cy="731520"/>
          </a:xfrm>
          <a:prstGeom prst="line">
            <a:avLst/>
          </a:prstGeom>
          <a:noFill/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84848" y="158191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IR 패턴 투사 → 변형 패턴으로 거리 계산. RealSense D435i 사용 방식. </a:t>
            </a:r>
            <a:r>
              <a:rPr lang="en-US" sz="950" b="1" u="sng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실내</a:t>
            </a:r>
            <a:r>
              <a:rPr lang="en-US" sz="950" b="1" u="sng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ko-KR" altLang="en-US" sz="950" b="1" u="sng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환경에서 적합</a:t>
            </a:r>
            <a:r>
              <a:rPr lang="en-US" altLang="ko-KR" sz="950" b="1" u="sng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!</a:t>
            </a:r>
          </a:p>
        </p:txBody>
      </p:sp>
      <p:sp>
        <p:nvSpPr>
          <p:cNvPr id="25" name="Shape 23"/>
          <p:cNvSpPr/>
          <p:nvPr/>
        </p:nvSpPr>
        <p:spPr>
          <a:xfrm>
            <a:off x="5669280" y="2560320"/>
            <a:ext cx="292608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15000" y="260604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ToF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(Time of Flight)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20840" y="2651760"/>
            <a:ext cx="0" cy="731520"/>
          </a:xfrm>
          <a:prstGeom prst="line">
            <a:avLst/>
          </a:prstGeom>
          <a:noFill/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848" y="263347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빛 왕복 시간으로 거리 측정. 빠르지만 다중 반사에 취약.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669280" y="3611880"/>
            <a:ext cx="292608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15000" y="36576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스테레오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(Stereo Vision)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720840" y="3703320"/>
            <a:ext cx="0" cy="731520"/>
          </a:xfrm>
          <a:prstGeom prst="line">
            <a:avLst/>
          </a:prstGeom>
          <a:noFill/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84848" y="3685032"/>
            <a:ext cx="1737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두 </a:t>
            </a:r>
            <a:r>
              <a:rPr lang="en-US" sz="9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카메라</a:t>
            </a:r>
            <a:r>
              <a:rPr lang="ko-KR" alt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의 시차로</a:t>
            </a:r>
            <a:r>
              <a:rPr 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깊이 </a:t>
            </a:r>
            <a:r>
              <a:rPr lang="en-US" sz="9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추정</a:t>
            </a:r>
            <a:r>
              <a:rPr 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조명</a:t>
            </a:r>
            <a:r>
              <a:rPr lang="en-US" sz="9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변화에 민감.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4E4D622-D621-5DFF-0900-E7850AD96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67872"/>
            <a:ext cx="2951830" cy="2158408"/>
          </a:xfrm>
          <a:prstGeom prst="rect">
            <a:avLst/>
          </a:prstGeom>
        </p:spPr>
      </p:pic>
      <p:sp>
        <p:nvSpPr>
          <p:cNvPr id="37" name="Text 28">
            <a:extLst>
              <a:ext uri="{FF2B5EF4-FFF2-40B4-BE49-F238E27FC236}">
                <a16:creationId xmlns:a16="http://schemas.microsoft.com/office/drawing/2014/main" id="{2023E188-FFF7-8A86-06DF-CA13D85E2B9D}"/>
              </a:ext>
            </a:extLst>
          </p:cNvPr>
          <p:cNvSpPr/>
          <p:nvPr/>
        </p:nvSpPr>
        <p:spPr>
          <a:xfrm>
            <a:off x="4021678" y="3969652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&lt; </a:t>
            </a:r>
            <a:r>
              <a:rPr lang="en-US" sz="1000" b="1" dirty="0" err="1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스테레오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(Stereo Vision)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7A53-3920-6ED9-6B38-4DA89679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B69F50-B9E9-3F94-7C03-4E284B8EC54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311640-E2DD-ABE4-C6E6-6516C5A6710B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YOLO (You Only Look Once)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D407F07-5F56-6DAD-6048-AD43C9437F21}"/>
              </a:ext>
            </a:extLst>
          </p:cNvPr>
          <p:cNvSpPr/>
          <p:nvPr/>
        </p:nvSpPr>
        <p:spPr>
          <a:xfrm>
            <a:off x="3719945" y="1834327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/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World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7405E90-1865-585C-F9F4-99E00F92BC70}"/>
              </a:ext>
            </a:extLst>
          </p:cNvPr>
          <p:cNvSpPr/>
          <p:nvPr/>
        </p:nvSpPr>
        <p:spPr>
          <a:xfrm>
            <a:off x="3719945" y="2382967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객체 탐지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578F0E1-62DF-9D2D-BCB6-4374EA845D89}"/>
              </a:ext>
            </a:extLst>
          </p:cNvPr>
          <p:cNvSpPr/>
          <p:nvPr/>
        </p:nvSpPr>
        <p:spPr>
          <a:xfrm>
            <a:off x="5435416" y="927522"/>
            <a:ext cx="3463359" cy="229176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5092569-D433-C57A-F687-5194497C6853}"/>
              </a:ext>
            </a:extLst>
          </p:cNvPr>
          <p:cNvSpPr/>
          <p:nvPr/>
        </p:nvSpPr>
        <p:spPr>
          <a:xfrm>
            <a:off x="5269161" y="927522"/>
            <a:ext cx="3463359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3BCEC37-CA6A-D5D9-F614-33447362D507}"/>
              </a:ext>
            </a:extLst>
          </p:cNvPr>
          <p:cNvSpPr/>
          <p:nvPr/>
        </p:nvSpPr>
        <p:spPr>
          <a:xfrm>
            <a:off x="5609514" y="1081107"/>
            <a:ext cx="3312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World </a:t>
            </a:r>
            <a:r>
              <a:rPr lang="ko-KR" altLang="en-US" sz="1300" b="1" dirty="0">
                <a:solidFill>
                  <a:srgbClr val="FB923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이전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174865E-5AB6-15A6-8A67-DB6CEA450A6F}"/>
              </a:ext>
            </a:extLst>
          </p:cNvPr>
          <p:cNvSpPr/>
          <p:nvPr/>
        </p:nvSpPr>
        <p:spPr>
          <a:xfrm>
            <a:off x="5658473" y="1478040"/>
            <a:ext cx="312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Vision language (VLM) 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사전학습 기반은</a:t>
            </a:r>
            <a:endParaRPr lang="en-US" altLang="ko-KR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모델이 크고 느려 실용성이 낮음</a:t>
            </a:r>
            <a:endParaRPr lang="en-US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6AB9D20F-C35C-FC36-05C8-9D5A832FBCF4}"/>
              </a:ext>
            </a:extLst>
          </p:cNvPr>
          <p:cNvSpPr/>
          <p:nvPr/>
        </p:nvSpPr>
        <p:spPr>
          <a:xfrm>
            <a:off x="245225" y="960120"/>
            <a:ext cx="4937760" cy="3840480"/>
          </a:xfrm>
          <a:prstGeom prst="rect">
            <a:avLst/>
          </a:prstGeom>
          <a:solidFill>
            <a:srgbClr val="162435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0D2A824C-D04D-5F4F-F77D-47F57F64B949}"/>
              </a:ext>
            </a:extLst>
          </p:cNvPr>
          <p:cNvSpPr/>
          <p:nvPr/>
        </p:nvSpPr>
        <p:spPr>
          <a:xfrm>
            <a:off x="514281" y="109211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FB923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World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6E0E4DC4-E9C0-5F09-10EE-FDDBFAFC5260}"/>
              </a:ext>
            </a:extLst>
          </p:cNvPr>
          <p:cNvSpPr/>
          <p:nvPr/>
        </p:nvSpPr>
        <p:spPr>
          <a:xfrm flipV="1">
            <a:off x="514281" y="1686378"/>
            <a:ext cx="45719" cy="45719"/>
          </a:xfrm>
          <a:prstGeom prst="rect">
            <a:avLst/>
          </a:prstGeom>
          <a:solidFill>
            <a:srgbClr val="FB923C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85D87689-C9C4-9195-F5D1-D31A1DBECD7A}"/>
              </a:ext>
            </a:extLst>
          </p:cNvPr>
          <p:cNvSpPr/>
          <p:nvPr/>
        </p:nvSpPr>
        <p:spPr>
          <a:xfrm>
            <a:off x="720713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Open-vocabulary</a:t>
            </a:r>
            <a:r>
              <a:rPr lang="ko-KR" altLang="en-US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altLang="ko-KR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Detector </a:t>
            </a:r>
            <a:r>
              <a:rPr lang="ko-KR" altLang="en-US" sz="1200" b="1" dirty="0">
                <a:solidFill>
                  <a:srgbClr val="FFFFFF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의 등장</a:t>
            </a:r>
            <a:endParaRPr lang="en-US" sz="1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F0E0CAFD-1501-0A33-52FD-2C27741A7F2E}"/>
              </a:ext>
            </a:extLst>
          </p:cNvPr>
          <p:cNvSpPr/>
          <p:nvPr/>
        </p:nvSpPr>
        <p:spPr>
          <a:xfrm>
            <a:off x="702425" y="1840729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사전에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고정된 클래스 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사람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자동차 등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한계를 넘어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사용자가 원하는 텍스트를 입력 시에 해당 객체를 찾아내는 능력을 구현한 모델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en-US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9" name="Text 28">
            <a:extLst>
              <a:ext uri="{FF2B5EF4-FFF2-40B4-BE49-F238E27FC236}">
                <a16:creationId xmlns:a16="http://schemas.microsoft.com/office/drawing/2014/main" id="{FAA92AB4-DA21-DF17-B8CE-A0052002091C}"/>
              </a:ext>
            </a:extLst>
          </p:cNvPr>
          <p:cNvSpPr/>
          <p:nvPr/>
        </p:nvSpPr>
        <p:spPr>
          <a:xfrm>
            <a:off x="708140" y="3799027"/>
            <a:ext cx="31770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&lt; open-vocabulary detector</a:t>
            </a:r>
            <a:r>
              <a:rPr lang="ko-KR" alt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의 예시</a:t>
            </a:r>
            <a:endParaRPr lang="en-US" altLang="ko-KR" sz="1000" b="1" dirty="0">
              <a:solidFill>
                <a:srgbClr val="8FA3B1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(</a:t>
            </a:r>
            <a:r>
              <a:rPr lang="ko-KR" alt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실시간 </a:t>
            </a:r>
            <a:r>
              <a:rPr lang="en-US" altLang="ko-KR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detection</a:t>
            </a:r>
            <a:r>
              <a:rPr lang="ko-KR" alt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은 한계</a:t>
            </a:r>
            <a:r>
              <a:rPr lang="en-US" altLang="ko-KR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)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054" name="Picture 6" descr="GitHub - microsoft/GLIP: Grounded Language-Image Pre-training · GitHub">
            <a:extLst>
              <a:ext uri="{FF2B5EF4-FFF2-40B4-BE49-F238E27FC236}">
                <a16:creationId xmlns:a16="http://schemas.microsoft.com/office/drawing/2014/main" id="{EDE1398E-28A6-2755-920A-066E64648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40" y="2430401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Shape 35">
            <a:extLst>
              <a:ext uri="{FF2B5EF4-FFF2-40B4-BE49-F238E27FC236}">
                <a16:creationId xmlns:a16="http://schemas.microsoft.com/office/drawing/2014/main" id="{055C1E2D-A60D-B35C-C4A9-095A54770C0E}"/>
              </a:ext>
            </a:extLst>
          </p:cNvPr>
          <p:cNvSpPr/>
          <p:nvPr/>
        </p:nvSpPr>
        <p:spPr>
          <a:xfrm>
            <a:off x="5489510" y="3374730"/>
            <a:ext cx="3463359" cy="146304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381A9DEC-A9D6-2AC7-CC96-7586E02D61B0}"/>
              </a:ext>
            </a:extLst>
          </p:cNvPr>
          <p:cNvSpPr/>
          <p:nvPr/>
        </p:nvSpPr>
        <p:spPr>
          <a:xfrm>
            <a:off x="5609515" y="3470731"/>
            <a:ext cx="33127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FB923C"/>
                </a:solidFill>
              </a:rPr>
              <a:t>RepVL</a:t>
            </a:r>
            <a:r>
              <a:rPr lang="en-US" altLang="ko-KR" sz="1400" dirty="0">
                <a:solidFill>
                  <a:srgbClr val="FB923C"/>
                </a:solidFill>
              </a:rPr>
              <a:t>-PAN</a:t>
            </a:r>
            <a:endParaRPr lang="en-US" sz="1300" dirty="0">
              <a:solidFill>
                <a:srgbClr val="FB923C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058" name="Picture 10" descr="VHELM - Holistic Evaluation of Language Models (HELM)">
            <a:extLst>
              <a:ext uri="{FF2B5EF4-FFF2-40B4-BE49-F238E27FC236}">
                <a16:creationId xmlns:a16="http://schemas.microsoft.com/office/drawing/2014/main" id="{C7461D85-FD56-E5AC-5CCD-C0DF15393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514" y="1941010"/>
            <a:ext cx="3123005" cy="108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39">
            <a:extLst>
              <a:ext uri="{FF2B5EF4-FFF2-40B4-BE49-F238E27FC236}">
                <a16:creationId xmlns:a16="http://schemas.microsoft.com/office/drawing/2014/main" id="{86D67BD9-7CC1-7682-FF2F-6517C0551A49}"/>
              </a:ext>
            </a:extLst>
          </p:cNvPr>
          <p:cNvSpPr/>
          <p:nvPr/>
        </p:nvSpPr>
        <p:spPr>
          <a:xfrm>
            <a:off x="5604819" y="4100917"/>
            <a:ext cx="312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텍스트 </a:t>
            </a:r>
            <a:r>
              <a:rPr lang="ko-KR" altLang="en-US" sz="105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임베딩을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모델 가중치에 미리 </a:t>
            </a:r>
            <a:endParaRPr lang="en-US" altLang="ko-KR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연산할 수 있어 일반 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YOLO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와의 </a:t>
            </a:r>
            <a:r>
              <a:rPr lang="ko-KR" altLang="en-US" sz="1050" dirty="0" err="1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계산량과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동일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marL="0" indent="0">
              <a:buNone/>
            </a:pPr>
            <a:endParaRPr lang="en-US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Open Vocabulary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유연성과 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YOLO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실시간성을</a:t>
            </a:r>
            <a:endParaRPr lang="en-US" altLang="ko-KR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동시 확보한 구조</a:t>
            </a:r>
            <a:r>
              <a:rPr lang="en-US" altLang="ko-KR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en-US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897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38472-C2AA-8DFF-47BF-625C4F30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44D296-69B2-36B1-92C8-7535CA71126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562CF3-AAE0-697C-D756-678AAC7D94A1}"/>
              </a:ext>
            </a:extLst>
          </p:cNvPr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YOLO (You Only Look Once)</a:t>
            </a:r>
            <a:endParaRPr lang="en-US" sz="2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7B9C986-7125-12E2-5863-CB5A220F1202}"/>
              </a:ext>
            </a:extLst>
          </p:cNvPr>
          <p:cNvSpPr/>
          <p:nvPr/>
        </p:nvSpPr>
        <p:spPr>
          <a:xfrm>
            <a:off x="5269161" y="927522"/>
            <a:ext cx="3463359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A7BFDE5-562E-0CF6-BC50-A2A7466B3692}"/>
              </a:ext>
            </a:extLst>
          </p:cNvPr>
          <p:cNvSpPr/>
          <p:nvPr/>
        </p:nvSpPr>
        <p:spPr>
          <a:xfrm>
            <a:off x="5658473" y="1478040"/>
            <a:ext cx="312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Vision language (VLM) </a:t>
            </a: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사전학습 기반은</a:t>
            </a:r>
            <a:endParaRPr lang="en-US" altLang="ko-KR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ko-KR" altLang="en-US" sz="1050" dirty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모델이 크고 느려 실용성이 낮음</a:t>
            </a:r>
            <a:endParaRPr lang="en-US" sz="105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062" name="Picture 14">
            <a:extLst>
              <a:ext uri="{FF2B5EF4-FFF2-40B4-BE49-F238E27FC236}">
                <a16:creationId xmlns:a16="http://schemas.microsoft.com/office/drawing/2014/main" id="{9B086AE5-692F-1314-C334-2F1F98357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40" y="1274994"/>
            <a:ext cx="7738520" cy="317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 28">
            <a:extLst>
              <a:ext uri="{FF2B5EF4-FFF2-40B4-BE49-F238E27FC236}">
                <a16:creationId xmlns:a16="http://schemas.microsoft.com/office/drawing/2014/main" id="{2161F899-4268-1888-1A20-7ED02269B59E}"/>
              </a:ext>
            </a:extLst>
          </p:cNvPr>
          <p:cNvSpPr/>
          <p:nvPr/>
        </p:nvSpPr>
        <p:spPr>
          <a:xfrm>
            <a:off x="2983455" y="4232714"/>
            <a:ext cx="31770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Ref. Yolo</a:t>
            </a:r>
            <a:r>
              <a:rPr lang="ko-KR" alt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altLang="ko-KR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world</a:t>
            </a:r>
            <a:r>
              <a:rPr lang="ko-KR" altLang="en-US" sz="10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altLang="ko-KR" sz="1000" b="1" dirty="0" err="1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github</a:t>
            </a:r>
            <a:endParaRPr lang="en-US" sz="1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760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|  YOLO 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1565910"/>
            <a:ext cx="1554480" cy="1005840"/>
          </a:xfrm>
          <a:prstGeom prst="rect">
            <a:avLst/>
          </a:prstGeom>
          <a:solidFill>
            <a:srgbClr val="162435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63906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ArUco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위치 인식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18770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로봇 위치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74520" y="197739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→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57400" y="1565910"/>
            <a:ext cx="1554480" cy="1005840"/>
          </a:xfrm>
          <a:prstGeom prst="rect">
            <a:avLst/>
          </a:prstGeom>
          <a:solidFill>
            <a:srgbClr val="162435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03120" y="163906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RGB-D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영상 입력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03120" y="218770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색상+깊이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11880" y="197739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→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94760" y="1565910"/>
            <a:ext cx="1554480" cy="1005840"/>
          </a:xfrm>
          <a:prstGeom prst="rect">
            <a:avLst/>
          </a:prstGeom>
          <a:solidFill>
            <a:srgbClr val="1A2E44"/>
          </a:solidFill>
          <a:ln w="31750">
            <a:solidFill>
              <a:schemeClr val="accent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40480" y="163906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/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World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0" y="218770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객체 탐지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49240" y="197739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→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32120" y="1565910"/>
            <a:ext cx="1554480" cy="1005840"/>
          </a:xfrm>
          <a:prstGeom prst="rect">
            <a:avLst/>
          </a:prstGeom>
          <a:solidFill>
            <a:srgbClr val="162435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77840" y="163906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3D 위치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추정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77840" y="218770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좌표 계산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86600" y="197739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FA3B1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→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69480" y="1565910"/>
            <a:ext cx="1554480" cy="1005840"/>
          </a:xfrm>
          <a:prstGeom prst="rect">
            <a:avLst/>
          </a:prstGeom>
          <a:solidFill>
            <a:srgbClr val="162435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315200" y="163906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Pick &amp;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Place</a:t>
            </a:r>
            <a:endParaRPr lang="en-US" sz="11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0" y="218770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8BFA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조작 실행</a:t>
            </a:r>
            <a:endParaRPr lang="en-US" sz="9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2850996"/>
            <a:ext cx="3794760" cy="146304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2850996"/>
            <a:ext cx="379476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2960724"/>
            <a:ext cx="362977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(v8)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8368" y="3253332"/>
            <a:ext cx="3423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물건 정리 — 장난감·빨래 등 학습된 클래스 탐지</a:t>
            </a:r>
            <a:endParaRPr lang="en-US" sz="10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8368" y="3564228"/>
            <a:ext cx="3423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돌돌이 먼지 탐지 — 미리 정의된 이물질 클래스</a:t>
            </a:r>
            <a:endParaRPr lang="en-US" sz="10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8368" y="3875124"/>
            <a:ext cx="3423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처리</a:t>
            </a: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속도</a:t>
            </a:r>
            <a:r>
              <a:rPr lang="ko-KR" alt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가</a:t>
            </a: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중요한 </a:t>
            </a:r>
            <a:r>
              <a:rPr lang="en-US" sz="1050" b="1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실시간</a:t>
            </a:r>
            <a:r>
              <a:rPr lang="en-US" sz="1050" b="1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상황</a:t>
            </a:r>
            <a:r>
              <a:rPr lang="ko-KR" alt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에서의 상황</a:t>
            </a:r>
            <a:endParaRPr lang="en-US" sz="10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937760" y="2850996"/>
            <a:ext cx="3794760" cy="1463040"/>
          </a:xfrm>
          <a:prstGeom prst="rect">
            <a:avLst/>
          </a:prstGeom>
          <a:solidFill>
            <a:srgbClr val="162435"/>
          </a:solidFill>
          <a:ln w="25400">
            <a:noFill/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ko-KR" altLang="en-US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37760" y="2850996"/>
            <a:ext cx="379476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0" y="2960724"/>
            <a:ext cx="3629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YOLO World</a:t>
            </a:r>
            <a:endParaRPr lang="en-US" sz="13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230368" y="3253332"/>
            <a:ext cx="3423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공 던지기 — "ball" 텍스트만으로 탐지</a:t>
            </a:r>
            <a:endParaRPr lang="en-US" sz="10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30368" y="3564228"/>
            <a:ext cx="3423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멀티탭 끄기 — "power strip button" 입력</a:t>
            </a:r>
            <a:endParaRPr lang="en-US" sz="10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230368" y="3875124"/>
            <a:ext cx="3423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새로운 물체 대응 </a:t>
            </a: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— 재학습 없이 </a:t>
            </a:r>
            <a:r>
              <a:rPr lang="en-US" sz="10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프롬프트</a:t>
            </a: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변경만으로</a:t>
            </a:r>
            <a:r>
              <a:rPr 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E8EFF5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Calibri" pitchFamily="34" charset="-120"/>
              </a:rPr>
              <a:t>가능</a:t>
            </a:r>
            <a:endParaRPr lang="en-US" sz="105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F80E66DE-308E-3E25-FFE3-5E05B2C0A9DF}"/>
              </a:ext>
            </a:extLst>
          </p:cNvPr>
          <p:cNvSpPr/>
          <p:nvPr/>
        </p:nvSpPr>
        <p:spPr>
          <a:xfrm>
            <a:off x="2468880" y="1080135"/>
            <a:ext cx="4206240" cy="299466"/>
          </a:xfrm>
          <a:prstGeom prst="rect">
            <a:avLst/>
          </a:prstGeom>
          <a:solidFill>
            <a:srgbClr val="162435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예상 파이프라인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1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한컴 고딕" panose="02000500000000000000" pitchFamily="2" charset="-127"/>
                <a:cs typeface="Arial Black" pitchFamily="34" charset="-120"/>
              </a:rPr>
              <a:t>참고 자료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69848"/>
            <a:ext cx="1463040" cy="310896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1371600" cy="219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" y="1646355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1554915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Zhang, Z., "A Flexible New Technique for Camera Calibration" (IEEE TPAMI, 2000)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993827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1902387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Aruco Markers Tutorial E01 - What are Aruco Markers? (YouTube)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341299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" y="2249859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Camera Calibration using Zhang's Method — Cyrill Stachniss (YouTube)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771"/>
            <a:ext cx="1463040" cy="310896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2734491"/>
            <a:ext cx="1371600" cy="219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" y="3164259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" y="3072819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Depth Camera - Computerphile (YouTube)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" y="3511731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" y="3420291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D435i Product Page — intelrealsense.com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59203"/>
            <a:ext cx="1463040" cy="310896"/>
          </a:xfrm>
          <a:prstGeom prst="rect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904923"/>
            <a:ext cx="1371600" cy="2194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" y="4334691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1792" y="4243251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Cheng et al., "YOLO-World: Real-Time Open-Vocabulary Object Detection" (CVPR 2024)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4682163"/>
            <a:ext cx="82296" cy="82296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1792" y="4590723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YOLO v8 한국어 소개, AI 객체탐지 — 인하대 주승환 교수 (YouTube)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91019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18313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786</Words>
  <Application>Microsoft Office PowerPoint</Application>
  <PresentationFormat>화면 슬라이드 쇼(16:9)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한컴 고딕</vt:lpstr>
      <vt:lpstr>한컴산뜻돋움</vt:lpstr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기술 스터디 - 월간 공유회</dc:title>
  <dc:subject>PptxGenJS Presentation</dc:subject>
  <dc:creator>PptxGenJS</dc:creator>
  <cp:lastModifiedBy>정지아</cp:lastModifiedBy>
  <cp:revision>4</cp:revision>
  <dcterms:created xsi:type="dcterms:W3CDTF">2026-03-31T05:02:06Z</dcterms:created>
  <dcterms:modified xsi:type="dcterms:W3CDTF">2026-04-01T03:01:37Z</dcterms:modified>
</cp:coreProperties>
</file>