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7" r:id="rId9"/>
    <p:sldId id="266" r:id="rId10"/>
  </p:sldIdLst>
  <p:sldSz cx="12192000" cy="6858000"/>
  <p:notesSz cx="6858000" cy="9144000"/>
  <p:embeddedFontLst>
    <p:embeddedFont>
      <p:font typeface="Urbanist" panose="020B0600000101010101" charset="0"/>
      <p:regular r:id="rId12"/>
      <p:bold r:id="rId13"/>
      <p:italic r:id="rId14"/>
      <p:boldItalic r:id="rId15"/>
    </p:embeddedFont>
    <p:embeddedFont>
      <p:font typeface="Urbanist Medium" panose="020B0600000101010101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25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90f42e72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g3e90f42e72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5B2D7BCB-E639-CE3E-93A5-4341BCC4E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6E01AD23-B222-140F-CAAB-C04F67D700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D9C0115E-BF74-F04D-A910-6CB9135C21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13894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90f42e724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e90f42e724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485548" y="2145952"/>
            <a:ext cx="7221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SYNC:US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724275" y="3006923"/>
            <a:ext cx="4743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3차 </a:t>
            </a: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월간공유회</a:t>
            </a:r>
            <a:endParaRPr sz="18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김석현(팀장), 최명진, 김민서 이가인</a:t>
            </a:r>
            <a:endParaRPr sz="18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5619750" y="3854648"/>
            <a:ext cx="952500" cy="3810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862512" y="4330898"/>
            <a:ext cx="2466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수어 학습 도우미 서비스 개발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91891"/>
            <a:ext cx="3555950" cy="2301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991891"/>
            <a:ext cx="3555950" cy="2301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991891"/>
            <a:ext cx="3556099" cy="230118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866775" y="3972966"/>
            <a:ext cx="311367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멘토링 킥오프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66775" y="4449216"/>
            <a:ext cx="29655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멘토님 </a:t>
            </a: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조언을 통한 기술 스택 및 프로젝트 방향성 구체화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613225" y="3972966"/>
            <a:ext cx="311367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역할 및 프로세스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4613175" y="4356016"/>
            <a:ext cx="29655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UI/</a:t>
            </a:r>
            <a:r>
              <a:rPr lang="en-US" sz="13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UX</a:t>
            </a: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데이터 추출, </a:t>
            </a:r>
            <a:r>
              <a:rPr lang="en-US" sz="13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랜드마크추출, DTW알고리즘 구축 </a:t>
            </a: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등 4대 핵심 분야 역할 분담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359675" y="3972966"/>
            <a:ext cx="311382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인프라 구축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359675" y="4449216"/>
            <a:ext cx="2965549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GitHub 협업 환경 조성 및 하드웨어/예산 구매 계획 수립</a:t>
            </a:r>
            <a:endParaRPr/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3315741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13225" y="3315741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9675" y="3315741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571500" y="950862"/>
            <a:ext cx="1160145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BEF264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주요 활동 하이라이트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2645568" y="2333625"/>
            <a:ext cx="6900862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01. </a:t>
            </a:r>
            <a:r>
              <a:rPr lang="ko-KR" altLang="en-US" sz="4500" b="1" i="0" u="none" strike="noStrike" cap="none" dirty="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이번달에는 뭘 했을까</a:t>
            </a:r>
            <a:r>
              <a:rPr lang="en-US" altLang="ko-KR" sz="4500" b="1" i="0" u="none" strike="noStrike" cap="none" dirty="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??</a:t>
            </a:r>
            <a:endParaRPr dirty="0"/>
          </a:p>
        </p:txBody>
      </p:sp>
      <p:sp>
        <p:nvSpPr>
          <p:cNvPr id="113" name="Google Shape;113;p15"/>
          <p:cNvSpPr/>
          <p:nvPr/>
        </p:nvSpPr>
        <p:spPr>
          <a:xfrm>
            <a:off x="5619750" y="3922365"/>
            <a:ext cx="952500" cy="3810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3933825" y="4436715"/>
            <a:ext cx="43243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altLang="ko-KR" sz="1800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8</a:t>
            </a:r>
            <a:r>
              <a:rPr lang="ko-KR" altLang="en-US" sz="1800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월 핵심 활동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571500" y="1713607"/>
            <a:ext cx="52008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dirty="0">
                <a:solidFill>
                  <a:srgbClr val="BEF264"/>
                </a:solidFill>
                <a:latin typeface="Urbanist Medium"/>
                <a:cs typeface="Urbanist Medium"/>
                <a:sym typeface="Urbanist Medium"/>
              </a:rPr>
              <a:t>대규모 데이터셋 구축</a:t>
            </a:r>
            <a:endParaRPr dirty="0"/>
          </a:p>
        </p:txBody>
      </p:sp>
      <p:sp>
        <p:nvSpPr>
          <p:cNvPr id="122" name="Google Shape;122;p16"/>
          <p:cNvSpPr txBox="1"/>
          <p:nvPr/>
        </p:nvSpPr>
        <p:spPr>
          <a:xfrm>
            <a:off x="904838" y="2818507"/>
            <a:ext cx="46197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1500" b="1" dirty="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자체 개발 촬영 프로그램 도입 </a:t>
            </a:r>
            <a:r>
              <a:rPr lang="en-US" sz="1500" b="1" i="0" u="none" strike="noStrike" cap="none" dirty="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ko-KR" altLang="en-US" sz="1500" dirty="0" err="1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수어</a:t>
            </a:r>
            <a:r>
              <a:rPr lang="ko-KR" altLang="en-US" sz="1500" dirty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데이터 수집 효율을 높이기 위해 팀 내 자체 제작한 촬영 및 데이터 추출 프로그램</a:t>
            </a:r>
            <a:r>
              <a:rPr lang="en-US" altLang="ko-KR" sz="1500" dirty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ko-KR" altLang="en-US" sz="1500" dirty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활용</a:t>
            </a:r>
            <a:endParaRPr dirty="0"/>
          </a:p>
        </p:txBody>
      </p:sp>
      <p:sp>
        <p:nvSpPr>
          <p:cNvPr id="123" name="Google Shape;123;p16"/>
          <p:cNvSpPr txBox="1"/>
          <p:nvPr/>
        </p:nvSpPr>
        <p:spPr>
          <a:xfrm>
            <a:off x="904863" y="3657087"/>
            <a:ext cx="4619700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ko-KR" altLang="en-US" sz="1500" b="1" dirty="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팀 단위 대규모 데이터 수집 진행</a:t>
            </a:r>
            <a:r>
              <a:rPr lang="en-US" sz="1500" b="1" i="0" u="none" strike="noStrike" cap="none" dirty="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ko-KR" altLang="en-US" sz="1500" dirty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팀원 전원이 참여하여 </a:t>
            </a:r>
            <a:r>
              <a:rPr lang="en-US" altLang="ko-KR" sz="1500" dirty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AI </a:t>
            </a:r>
            <a:r>
              <a:rPr lang="ko-KR" altLang="en-US" sz="1500" dirty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학습에 필요한 다량의 </a:t>
            </a:r>
            <a:r>
              <a:rPr lang="ko-KR" altLang="en-US" sz="1500" dirty="0" err="1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수어</a:t>
            </a:r>
            <a:r>
              <a:rPr lang="ko-KR" altLang="en-US" sz="1500" dirty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동작 미디어 데이터</a:t>
            </a:r>
            <a:r>
              <a:rPr lang="en-US" altLang="ko-KR" sz="1500" dirty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ko-KR" altLang="en-US" sz="1500" dirty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일괄 촬영 및 확보</a:t>
            </a:r>
            <a:endParaRPr dirty="0"/>
          </a:p>
        </p:txBody>
      </p:sp>
      <p:sp>
        <p:nvSpPr>
          <p:cNvPr id="124" name="Google Shape;124;p16"/>
          <p:cNvSpPr txBox="1"/>
          <p:nvPr/>
        </p:nvSpPr>
        <p:spPr>
          <a:xfrm>
            <a:off x="904875" y="4799707"/>
            <a:ext cx="4619700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미디어 파이프</a:t>
            </a:r>
            <a:r>
              <a:rPr lang="en-US" altLang="ko-KR" sz="1500" b="1" dirty="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ko-KR" altLang="en-US" sz="1500" b="1" dirty="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기반 랜드마크 추출</a:t>
            </a:r>
            <a:r>
              <a:rPr lang="en-US" sz="1500" b="1" i="0" u="none" strike="noStrike" cap="none" dirty="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ko-KR" altLang="en-US" sz="1500" dirty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왼손</a:t>
            </a:r>
            <a:r>
              <a:rPr lang="en-US" altLang="ko-KR" sz="1500" dirty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ko-KR" altLang="en-US" sz="1500" dirty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오른손</a:t>
            </a:r>
            <a:r>
              <a:rPr lang="en-US" altLang="ko-KR" sz="1500" dirty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ko-KR" altLang="en-US" sz="1500" dirty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얼굴 등 주요 관절의 좌표 데이터를 추출하여 학습용 기초 데이터 마련</a:t>
            </a:r>
            <a:endParaRPr dirty="0"/>
          </a:p>
        </p:txBody>
      </p:sp>
      <p:sp>
        <p:nvSpPr>
          <p:cNvPr id="125" name="Google Shape;125;p16"/>
          <p:cNvSpPr txBox="1"/>
          <p:nvPr/>
        </p:nvSpPr>
        <p:spPr>
          <a:xfrm>
            <a:off x="571500" y="2818507"/>
            <a:ext cx="133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571500" y="3657087"/>
            <a:ext cx="133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571500" y="4799707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1D00A68-DC3C-D86B-C088-90D77403A1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2315" y="0"/>
            <a:ext cx="645313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2880850" y="2362925"/>
            <a:ext cx="59907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02. </a:t>
            </a:r>
            <a:r>
              <a:rPr lang="ko-KR" altLang="en-US" sz="4500" b="1" dirty="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문제</a:t>
            </a:r>
            <a:endParaRPr dirty="0"/>
          </a:p>
        </p:txBody>
      </p:sp>
      <p:sp>
        <p:nvSpPr>
          <p:cNvPr id="134" name="Google Shape;134;p17"/>
          <p:cNvSpPr/>
          <p:nvPr/>
        </p:nvSpPr>
        <p:spPr>
          <a:xfrm>
            <a:off x="5619750" y="3922365"/>
            <a:ext cx="952500" cy="3810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3829050" y="4436715"/>
            <a:ext cx="4533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어렵네요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512875" y="2130183"/>
            <a:ext cx="5600700" cy="3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55854" algn="l" rtl="0">
              <a:spcBef>
                <a:spcPts val="0"/>
              </a:spcBef>
              <a:spcAft>
                <a:spcPts val="0"/>
              </a:spcAft>
              <a:buClr>
                <a:srgbClr val="BEF264"/>
              </a:buClr>
              <a:buSzPts val="2004"/>
              <a:buFont typeface="Urbanist"/>
              <a:buAutoNum type="arabicPeriod"/>
            </a:pPr>
            <a:r>
              <a:rPr lang="ko-KR" altLang="en-US" sz="2004" b="1" dirty="0">
                <a:solidFill>
                  <a:srgbClr val="BEF264"/>
                </a:solidFill>
                <a:latin typeface="Urbanist"/>
                <a:cs typeface="Urbanist"/>
                <a:sym typeface="Urbanist"/>
              </a:rPr>
              <a:t>버전 이슈</a:t>
            </a:r>
            <a:endParaRPr sz="2000" dirty="0"/>
          </a:p>
        </p:txBody>
      </p:sp>
      <p:sp>
        <p:nvSpPr>
          <p:cNvPr id="142" name="Google Shape;142;p18"/>
          <p:cNvSpPr txBox="1"/>
          <p:nvPr/>
        </p:nvSpPr>
        <p:spPr>
          <a:xfrm>
            <a:off x="571500" y="3726805"/>
            <a:ext cx="560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2. </a:t>
            </a:r>
            <a:r>
              <a:rPr lang="en-US" sz="2000" b="1" i="0" u="none" strike="noStrike" cap="none" dirty="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ML vs DL</a:t>
            </a:r>
            <a:endParaRPr sz="2000" dirty="0"/>
          </a:p>
        </p:txBody>
      </p:sp>
      <p:sp>
        <p:nvSpPr>
          <p:cNvPr id="144" name="Google Shape;144;p18"/>
          <p:cNvSpPr txBox="1"/>
          <p:nvPr/>
        </p:nvSpPr>
        <p:spPr>
          <a:xfrm>
            <a:off x="904875" y="4232601"/>
            <a:ext cx="50007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E2E8F0"/>
                </a:solidFill>
                <a:latin typeface="Urbanist"/>
                <a:cs typeface="Urbanist"/>
                <a:sym typeface="Urbanist"/>
              </a:rPr>
              <a:t>앞으로 개발할 최적의 모델을 이제 찾아야 함</a:t>
            </a:r>
            <a:r>
              <a:rPr lang="en-US" altLang="ko-KR" sz="1500" dirty="0">
                <a:solidFill>
                  <a:srgbClr val="E2E8F0"/>
                </a:solidFill>
                <a:latin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45" name="Google Shape;145;p18"/>
          <p:cNvSpPr txBox="1"/>
          <p:nvPr/>
        </p:nvSpPr>
        <p:spPr>
          <a:xfrm>
            <a:off x="7254875" y="2691776"/>
            <a:ext cx="50007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i="0" u="none" strike="noStrike" cap="none" dirty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전문가 영상을 </a:t>
            </a:r>
            <a:r>
              <a:rPr lang="ko-KR" altLang="en-US" sz="1500" b="0" i="0" u="none" strike="noStrike" cap="none" dirty="0" err="1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띄우려는데</a:t>
            </a:r>
            <a:r>
              <a:rPr lang="ko-KR" altLang="en-US" sz="1500" b="0" i="0" u="none" strike="noStrike" cap="none" dirty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한국수어사전 영상을 가져와서 써도 될까</a:t>
            </a:r>
            <a:r>
              <a:rPr lang="en-US" altLang="ko-KR" sz="1500" b="0" i="0" u="none" strike="noStrike" cap="none" dirty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?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E2E8F0"/>
                </a:solidFill>
                <a:latin typeface="Urbanist"/>
                <a:cs typeface="Urbanist"/>
                <a:sym typeface="Urbanist"/>
              </a:rPr>
              <a:t>다행스럽게도 영상 훼손 없이 비영리 목적으로 사용하면 괜찮았다</a:t>
            </a:r>
            <a:r>
              <a:rPr lang="en-US" altLang="ko-KR" sz="1500" dirty="0">
                <a:solidFill>
                  <a:srgbClr val="E2E8F0"/>
                </a:solidFill>
                <a:latin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46" name="Google Shape;146;p18"/>
          <p:cNvSpPr txBox="1"/>
          <p:nvPr/>
        </p:nvSpPr>
        <p:spPr>
          <a:xfrm>
            <a:off x="571500" y="4162276"/>
            <a:ext cx="66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6921500" y="2622626"/>
            <a:ext cx="66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638100" y="2622626"/>
            <a:ext cx="66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571500" y="950862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dirty="0">
                <a:solidFill>
                  <a:srgbClr val="BEF264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문제들</a:t>
            </a:r>
            <a:endParaRPr dirty="0"/>
          </a:p>
        </p:txBody>
      </p:sp>
      <p:sp>
        <p:nvSpPr>
          <p:cNvPr id="150" name="Google Shape;150;p18"/>
          <p:cNvSpPr txBox="1"/>
          <p:nvPr/>
        </p:nvSpPr>
        <p:spPr>
          <a:xfrm>
            <a:off x="904863" y="2622626"/>
            <a:ext cx="5000700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각자 데이터 촬영 과정에서 사용한 기술들의 버전이 달랐음</a:t>
            </a:r>
            <a:r>
              <a:rPr lang="en-US" altLang="ko-KR" sz="1500" dirty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. </a:t>
            </a:r>
            <a:r>
              <a:rPr lang="ko-KR" altLang="en-US" sz="1500" dirty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혹시 모를 문제가 생길 수 있어서</a:t>
            </a:r>
            <a:r>
              <a:rPr lang="en-US" altLang="ko-KR" sz="1500" dirty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ko-KR" altLang="en-US" sz="1500" dirty="0" err="1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한명의</a:t>
            </a:r>
            <a:r>
              <a:rPr lang="ko-KR" altLang="en-US" sz="1500" dirty="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컴퓨터에서 데이터 추출을 다시 진행</a:t>
            </a:r>
            <a:endParaRPr dirty="0"/>
          </a:p>
        </p:txBody>
      </p:sp>
      <p:sp>
        <p:nvSpPr>
          <p:cNvPr id="3" name="Google Shape;142;p18">
            <a:extLst>
              <a:ext uri="{FF2B5EF4-FFF2-40B4-BE49-F238E27FC236}">
                <a16:creationId xmlns:a16="http://schemas.microsoft.com/office/drawing/2014/main" id="{30694641-5A11-9437-E713-9A90DD52354C}"/>
              </a:ext>
            </a:extLst>
          </p:cNvPr>
          <p:cNvSpPr txBox="1"/>
          <p:nvPr/>
        </p:nvSpPr>
        <p:spPr>
          <a:xfrm>
            <a:off x="6921500" y="2130183"/>
            <a:ext cx="560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3. </a:t>
            </a:r>
            <a:r>
              <a:rPr lang="ko-KR" altLang="en-US" sz="2000" b="1" dirty="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영상 저작권</a:t>
            </a:r>
            <a:endParaRPr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1"/>
          <p:cNvSpPr txBox="1"/>
          <p:nvPr/>
        </p:nvSpPr>
        <p:spPr>
          <a:xfrm>
            <a:off x="3210639" y="2333625"/>
            <a:ext cx="57708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03. </a:t>
            </a:r>
            <a:r>
              <a:rPr lang="ko-KR" altLang="en-US" sz="4500" b="1" i="0" u="none" strike="noStrike" cap="none" dirty="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앞으로는</a:t>
            </a:r>
            <a:r>
              <a:rPr lang="en-US" altLang="ko-KR" sz="4500" b="1" i="0" u="none" strike="noStrike" cap="none" dirty="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??</a:t>
            </a:r>
            <a:endParaRPr dirty="0"/>
          </a:p>
        </p:txBody>
      </p:sp>
      <p:sp>
        <p:nvSpPr>
          <p:cNvPr id="184" name="Google Shape;184;p21"/>
          <p:cNvSpPr/>
          <p:nvPr/>
        </p:nvSpPr>
        <p:spPr>
          <a:xfrm>
            <a:off x="5619750" y="3922365"/>
            <a:ext cx="952500" cy="3810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4010025" y="4436715"/>
            <a:ext cx="41721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rgbClr val="94A3B8"/>
                </a:solidFill>
                <a:latin typeface="Urbanist"/>
                <a:cs typeface="Urbanist"/>
                <a:sym typeface="Urbanist"/>
              </a:rPr>
              <a:t>역할 분담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097F579A-4EE1-7ACE-470B-BE9F9D1C8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555A274F-C5C7-000D-62F7-1924A87F1EF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>
            <a:extLst>
              <a:ext uri="{FF2B5EF4-FFF2-40B4-BE49-F238E27FC236}">
                <a16:creationId xmlns:a16="http://schemas.microsoft.com/office/drawing/2014/main" id="{ABFD5B75-661B-0FD7-6250-6A4BD95185C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21050" y="1359540"/>
            <a:ext cx="3555950" cy="2301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>
            <a:extLst>
              <a:ext uri="{FF2B5EF4-FFF2-40B4-BE49-F238E27FC236}">
                <a16:creationId xmlns:a16="http://schemas.microsoft.com/office/drawing/2014/main" id="{242BBD77-B16C-4B32-365D-65525499CEA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21050" y="3774842"/>
            <a:ext cx="3555950" cy="2301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>
            <a:extLst>
              <a:ext uri="{FF2B5EF4-FFF2-40B4-BE49-F238E27FC236}">
                <a16:creationId xmlns:a16="http://schemas.microsoft.com/office/drawing/2014/main" id="{220F6CF8-56C0-8FAE-2E19-5271E6B5755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72225" y="3802787"/>
            <a:ext cx="3556099" cy="230118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F1CDDD89-0E60-A681-E4AE-6C8D6EC9BF62}"/>
              </a:ext>
            </a:extLst>
          </p:cNvPr>
          <p:cNvSpPr txBox="1"/>
          <p:nvPr/>
        </p:nvSpPr>
        <p:spPr>
          <a:xfrm>
            <a:off x="2816325" y="1761495"/>
            <a:ext cx="311367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 u="none" strike="noStrike" cap="none" dirty="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김석현</a:t>
            </a:r>
            <a:endParaRPr dirty="0"/>
          </a:p>
        </p:txBody>
      </p:sp>
      <p:sp>
        <p:nvSpPr>
          <p:cNvPr id="98" name="Google Shape;98;p14">
            <a:extLst>
              <a:ext uri="{FF2B5EF4-FFF2-40B4-BE49-F238E27FC236}">
                <a16:creationId xmlns:a16="http://schemas.microsoft.com/office/drawing/2014/main" id="{E88A9E3E-3144-94B2-5AAC-772401921D38}"/>
              </a:ext>
            </a:extLst>
          </p:cNvPr>
          <p:cNvSpPr txBox="1"/>
          <p:nvPr/>
        </p:nvSpPr>
        <p:spPr>
          <a:xfrm>
            <a:off x="2816325" y="2237745"/>
            <a:ext cx="29655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기존 개발한 웹과 </a:t>
            </a:r>
            <a:r>
              <a:rPr lang="en-US" altLang="ko-KR" sz="1350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dtw</a:t>
            </a:r>
            <a:r>
              <a:rPr lang="ko-KR" altLang="en-US" sz="135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통합</a:t>
            </a:r>
            <a:endParaRPr dirty="0"/>
          </a:p>
        </p:txBody>
      </p:sp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FC41F1C1-9E66-2ABE-6A75-FD2CB8566ACA}"/>
              </a:ext>
            </a:extLst>
          </p:cNvPr>
          <p:cNvSpPr txBox="1"/>
          <p:nvPr/>
        </p:nvSpPr>
        <p:spPr>
          <a:xfrm>
            <a:off x="2816325" y="4176797"/>
            <a:ext cx="311367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 u="none" strike="noStrike" cap="none" dirty="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김민서</a:t>
            </a:r>
            <a:endParaRPr dirty="0"/>
          </a:p>
        </p:txBody>
      </p:sp>
      <p:sp>
        <p:nvSpPr>
          <p:cNvPr id="100" name="Google Shape;100;p14">
            <a:extLst>
              <a:ext uri="{FF2B5EF4-FFF2-40B4-BE49-F238E27FC236}">
                <a16:creationId xmlns:a16="http://schemas.microsoft.com/office/drawing/2014/main" id="{71923416-A88E-0434-290B-DB327DB8E85C}"/>
              </a:ext>
            </a:extLst>
          </p:cNvPr>
          <p:cNvSpPr txBox="1"/>
          <p:nvPr/>
        </p:nvSpPr>
        <p:spPr>
          <a:xfrm>
            <a:off x="2816275" y="4559847"/>
            <a:ext cx="29655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350" dirty="0" err="1">
                <a:solidFill>
                  <a:srgbClr val="CBD5E1"/>
                </a:solidFill>
                <a:latin typeface="Urbanist"/>
                <a:cs typeface="Urbanist"/>
                <a:sym typeface="Urbanist"/>
              </a:rPr>
              <a:t>Llm</a:t>
            </a:r>
            <a:r>
              <a:rPr lang="en-US" altLang="ko-KR" sz="1350" dirty="0">
                <a:solidFill>
                  <a:srgbClr val="CBD5E1"/>
                </a:solidFill>
                <a:latin typeface="Urbanist"/>
                <a:cs typeface="Urbanist"/>
                <a:sym typeface="Urbanist"/>
              </a:rPr>
              <a:t> </a:t>
            </a:r>
            <a:r>
              <a:rPr lang="en-US" altLang="ko-KR" sz="1350" dirty="0" err="1">
                <a:solidFill>
                  <a:srgbClr val="CBD5E1"/>
                </a:solidFill>
                <a:latin typeface="Urbanist"/>
                <a:cs typeface="Urbanist"/>
                <a:sym typeface="Urbanist"/>
              </a:rPr>
              <a:t>api</a:t>
            </a:r>
            <a:r>
              <a:rPr lang="en-US" altLang="ko-KR" sz="1350" dirty="0">
                <a:solidFill>
                  <a:srgbClr val="CBD5E1"/>
                </a:solidFill>
                <a:latin typeface="Urbanist"/>
                <a:cs typeface="Urbanist"/>
                <a:sym typeface="Urbanist"/>
              </a:rPr>
              <a:t> </a:t>
            </a:r>
            <a:r>
              <a:rPr lang="ko-KR" altLang="en-US" sz="1350" dirty="0">
                <a:solidFill>
                  <a:srgbClr val="CBD5E1"/>
                </a:solidFill>
                <a:latin typeface="Urbanist"/>
                <a:cs typeface="Urbanist"/>
                <a:sym typeface="Urbanist"/>
              </a:rPr>
              <a:t>찾기</a:t>
            </a:r>
            <a:r>
              <a:rPr lang="en-US" altLang="ko-KR" sz="1350" dirty="0">
                <a:solidFill>
                  <a:srgbClr val="CBD5E1"/>
                </a:solidFill>
                <a:latin typeface="Urbanist"/>
                <a:cs typeface="Urbanist"/>
                <a:sym typeface="Urbanist"/>
              </a:rPr>
              <a:t>, </a:t>
            </a:r>
            <a:r>
              <a:rPr lang="ko-KR" altLang="en-US" sz="1350" dirty="0">
                <a:solidFill>
                  <a:srgbClr val="CBD5E1"/>
                </a:solidFill>
                <a:latin typeface="Urbanist"/>
                <a:cs typeface="Urbanist"/>
                <a:sym typeface="Urbanist"/>
              </a:rPr>
              <a:t>물품구매 담당</a:t>
            </a:r>
            <a:endParaRPr dirty="0"/>
          </a:p>
        </p:txBody>
      </p:sp>
      <p:sp>
        <p:nvSpPr>
          <p:cNvPr id="101" name="Google Shape;101;p14">
            <a:extLst>
              <a:ext uri="{FF2B5EF4-FFF2-40B4-BE49-F238E27FC236}">
                <a16:creationId xmlns:a16="http://schemas.microsoft.com/office/drawing/2014/main" id="{4DAD5A88-70E6-C6C3-92F0-5DCFFB234F0A}"/>
              </a:ext>
            </a:extLst>
          </p:cNvPr>
          <p:cNvSpPr txBox="1"/>
          <p:nvPr/>
        </p:nvSpPr>
        <p:spPr>
          <a:xfrm>
            <a:off x="6667500" y="4204742"/>
            <a:ext cx="311382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 u="none" strike="noStrike" cap="none" dirty="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최명진</a:t>
            </a:r>
            <a:endParaRPr dirty="0"/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DC3DF32D-1D62-DAEC-17B0-AA51B12B03EE}"/>
              </a:ext>
            </a:extLst>
          </p:cNvPr>
          <p:cNvSpPr txBox="1"/>
          <p:nvPr/>
        </p:nvSpPr>
        <p:spPr>
          <a:xfrm>
            <a:off x="6667500" y="4680992"/>
            <a:ext cx="2965549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제작한 데이터 검수 후 증강시키고 학습까지</a:t>
            </a:r>
            <a:endParaRPr dirty="0"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B2A4C41B-38F7-1C0E-6706-460571C3F4BC}"/>
              </a:ext>
            </a:extLst>
          </p:cNvPr>
          <p:cNvSpPr txBox="1"/>
          <p:nvPr/>
        </p:nvSpPr>
        <p:spPr>
          <a:xfrm>
            <a:off x="571500" y="498384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0" i="0" u="none" strike="noStrike" cap="none" dirty="0">
                <a:solidFill>
                  <a:srgbClr val="BEF264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담당</a:t>
            </a:r>
            <a:endParaRPr dirty="0"/>
          </a:p>
        </p:txBody>
      </p:sp>
      <p:pic>
        <p:nvPicPr>
          <p:cNvPr id="3" name="Google Shape;96;p14" descr="image.png">
            <a:extLst>
              <a:ext uri="{FF2B5EF4-FFF2-40B4-BE49-F238E27FC236}">
                <a16:creationId xmlns:a16="http://schemas.microsoft.com/office/drawing/2014/main" id="{D98EED5B-98BB-2ED4-7F39-D47B186A226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72225" y="1359540"/>
            <a:ext cx="3556099" cy="230118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1;p14">
            <a:extLst>
              <a:ext uri="{FF2B5EF4-FFF2-40B4-BE49-F238E27FC236}">
                <a16:creationId xmlns:a16="http://schemas.microsoft.com/office/drawing/2014/main" id="{E2BB3C96-7CCC-9A62-08BD-267FE8DD99D0}"/>
              </a:ext>
            </a:extLst>
          </p:cNvPr>
          <p:cNvSpPr txBox="1"/>
          <p:nvPr/>
        </p:nvSpPr>
        <p:spPr>
          <a:xfrm>
            <a:off x="6667500" y="1761495"/>
            <a:ext cx="311382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 u="none" strike="noStrike" cap="none" dirty="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이가인</a:t>
            </a:r>
            <a:endParaRPr dirty="0"/>
          </a:p>
        </p:txBody>
      </p:sp>
      <p:sp>
        <p:nvSpPr>
          <p:cNvPr id="7" name="Google Shape;102;p14">
            <a:extLst>
              <a:ext uri="{FF2B5EF4-FFF2-40B4-BE49-F238E27FC236}">
                <a16:creationId xmlns:a16="http://schemas.microsoft.com/office/drawing/2014/main" id="{3D4C7380-FA8E-3962-8EB6-A067EE7E178D}"/>
              </a:ext>
            </a:extLst>
          </p:cNvPr>
          <p:cNvSpPr txBox="1"/>
          <p:nvPr/>
        </p:nvSpPr>
        <p:spPr>
          <a:xfrm>
            <a:off x="6667500" y="2237745"/>
            <a:ext cx="2965549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공모전 참여를 위한 보고서 작성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54271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3"/>
          <p:cNvSpPr txBox="1"/>
          <p:nvPr/>
        </p:nvSpPr>
        <p:spPr>
          <a:xfrm>
            <a:off x="3210589" y="2931275"/>
            <a:ext cx="57708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감사합니다</a:t>
            </a:r>
            <a:endParaRPr/>
          </a:p>
        </p:txBody>
      </p:sp>
      <p:sp>
        <p:nvSpPr>
          <p:cNvPr id="205" name="Google Shape;205;p23"/>
          <p:cNvSpPr/>
          <p:nvPr/>
        </p:nvSpPr>
        <p:spPr>
          <a:xfrm>
            <a:off x="5619750" y="3922365"/>
            <a:ext cx="952500" cy="3810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</Words>
  <Application>Microsoft Office PowerPoint</Application>
  <PresentationFormat>와이드스크린</PresentationFormat>
  <Paragraphs>45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Calibri</vt:lpstr>
      <vt:lpstr>Urbanist</vt:lpstr>
      <vt:lpstr>Urbanist Medium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석현 김</cp:lastModifiedBy>
  <cp:revision>1</cp:revision>
  <dcterms:modified xsi:type="dcterms:W3CDTF">2026-08-25T08:10:36Z</dcterms:modified>
</cp:coreProperties>
</file>